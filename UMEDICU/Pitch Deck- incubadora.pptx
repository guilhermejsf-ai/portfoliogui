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Nunito SemiBold"/>
      <p:regular r:id="rId22"/>
      <p:bold r:id="rId23"/>
      <p:italic r:id="rId24"/>
      <p:boldItalic r:id="rId25"/>
    </p:embeddedFont>
    <p:embeddedFont>
      <p:font typeface="Play"/>
      <p:regular r:id="rId26"/>
      <p:bold r:id="rId27"/>
    </p:embeddedFont>
    <p:embeddedFont>
      <p:font typeface="Nuni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SemiBold-regular.fntdata"/><Relationship Id="rId21" Type="http://schemas.openxmlformats.org/officeDocument/2006/relationships/slide" Target="slides/slide16.xml"/><Relationship Id="rId24" Type="http://schemas.openxmlformats.org/officeDocument/2006/relationships/font" Target="fonts/NunitoSemiBold-italic.fntdata"/><Relationship Id="rId23" Type="http://schemas.openxmlformats.org/officeDocument/2006/relationships/font" Target="fonts/Nunito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-regular.fntdata"/><Relationship Id="rId25" Type="http://schemas.openxmlformats.org/officeDocument/2006/relationships/font" Target="fonts/NunitoSemiBold-boldItalic.fntdata"/><Relationship Id="rId28" Type="http://schemas.openxmlformats.org/officeDocument/2006/relationships/font" Target="fonts/Nunito-regular.fntdata"/><Relationship Id="rId27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Italic.fntdata"/><Relationship Id="rId30" Type="http://schemas.openxmlformats.org/officeDocument/2006/relationships/font" Target="fonts/Nuni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aa99f5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2ffaa99f56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ffaa99f564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2ffaa99f564_0_3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faa99f564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2ffaa99f564_0_4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ffaa99f564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2ffaa99f564_0_5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faa99f564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2ffaa99f564_0_5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ffaa99f564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2ffaa99f564_0_5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ffaa99f564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2ffaa99f564_0_3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ffaa99f564_0_2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ffaa99f564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ffaa99f564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2ffaa99f564_0_5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ffaa99f564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2ffaa99f564_0_6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faa99f564_0_6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ffaa99f564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ffaa99f564_0_6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ffaa99f564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ffaa99f564_0_6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ffaa99f564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ffaa99f564_0_7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ffaa99f564_0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faa99f564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2ffaa99f564_0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ffaa99f56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2ffaa99f564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8.png"/><Relationship Id="rId13" Type="http://schemas.openxmlformats.org/officeDocument/2006/relationships/image" Target="../media/image19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15" Type="http://schemas.openxmlformats.org/officeDocument/2006/relationships/image" Target="../media/image14.png"/><Relationship Id="rId14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3.png"/><Relationship Id="rId6" Type="http://schemas.openxmlformats.org/officeDocument/2006/relationships/image" Target="../media/image23.png"/><Relationship Id="rId7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0.png"/><Relationship Id="rId6" Type="http://schemas.openxmlformats.org/officeDocument/2006/relationships/image" Target="../media/image27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a imagem com Gráficos, logótipo, design gráfico, Tipo de letra&#10;&#10;Descrição gerada automaticamente" id="54" name="Google Shape;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9400" y="1839712"/>
            <a:ext cx="1285200" cy="146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-51475" y="2312398"/>
            <a:ext cx="91440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2400">
                <a:latin typeface="Nunito SemiBold"/>
                <a:ea typeface="Nunito SemiBold"/>
                <a:cs typeface="Nunito SemiBold"/>
                <a:sym typeface="Nunito SemiBold"/>
              </a:rPr>
              <a:t>Uma app, toda a sua saúde</a:t>
            </a:r>
            <a:endParaRPr sz="2400">
              <a:solidFill>
                <a:srgbClr val="000000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355600" y="308446"/>
            <a:ext cx="5991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400"/>
              <a:buFont typeface="Nunito"/>
              <a:buNone/>
            </a:pPr>
            <a:r>
              <a:rPr b="1" lang="pt-PT" sz="1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Dados em saúde</a:t>
            </a:r>
            <a:endParaRPr sz="5400"/>
          </a:p>
        </p:txBody>
      </p:sp>
      <p:pic>
        <p:nvPicPr>
          <p:cNvPr descr="Uma imagem com Gráficos, logótipo, design gráfico, Tipo de letra&#10;&#10;Descrição gerada automaticamente" id="65" name="Google Shape;6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6460" y="307601"/>
            <a:ext cx="538997" cy="61806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355602" y="599079"/>
            <a:ext cx="79890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370"/>
              </a:buClr>
              <a:buSzPts val="1400"/>
              <a:buFont typeface="Nunito"/>
              <a:buNone/>
            </a:pPr>
            <a:r>
              <a:rPr lang="pt-PT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Três grandes problemas…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802549" y="1537992"/>
            <a:ext cx="12693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ct val="25925"/>
              <a:buFont typeface="Nunito"/>
              <a:buNone/>
            </a:pPr>
            <a:r>
              <a:rPr b="1" lang="pt-PT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Descentralização</a:t>
            </a:r>
            <a:endParaRPr b="1" i="0" sz="5400" u="none" cap="none" strike="noStrike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84649" y="1862742"/>
            <a:ext cx="2705100" cy="27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Não existe um local único de consulta dos dados em saúde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lang="pt-PT" sz="1200">
                <a:latin typeface="Nunito"/>
                <a:ea typeface="Nunito"/>
                <a:cs typeface="Nunito"/>
                <a:sym typeface="Nunito"/>
              </a:rPr>
              <a:t>Os dados encontram-se (ou perdem-se) nas apps, </a:t>
            </a:r>
            <a:r>
              <a:rPr lang="pt-PT" sz="1200">
                <a:latin typeface="Nunito"/>
                <a:ea typeface="Nunito"/>
                <a:cs typeface="Nunito"/>
                <a:sym typeface="Nunito"/>
              </a:rPr>
              <a:t>plataformas</a:t>
            </a:r>
            <a:r>
              <a:rPr lang="pt-PT" sz="1200">
                <a:latin typeface="Nunito"/>
                <a:ea typeface="Nunito"/>
                <a:cs typeface="Nunito"/>
                <a:sym typeface="Nunito"/>
              </a:rPr>
              <a:t>, e-mails de quem os presta</a:t>
            </a:r>
            <a:br>
              <a:rPr b="0" i="0" lang="pt-PT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</a:b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777439" y="1538000"/>
            <a:ext cx="12693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ct val="25925"/>
              <a:buFont typeface="Nunito"/>
              <a:buNone/>
            </a:pPr>
            <a:r>
              <a:rPr b="1" lang="pt-PT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Falta de acesso</a:t>
            </a:r>
            <a:endParaRPr b="1" i="0" sz="5400" u="none" cap="none" strike="noStrike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059539" y="1862749"/>
            <a:ext cx="2705100" cy="27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ts val="12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Dados acabam por não serem transmitidos ao seu proprietário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ts val="12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Incapacidade de aceder aos dados pessoais de uma forma simples e rápida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None/>
            </a:pPr>
            <a:br>
              <a:rPr b="0" i="0" lang="pt-PT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</a:b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6855699" y="1538000"/>
            <a:ext cx="1702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400"/>
              <a:buFont typeface="Nunito"/>
              <a:buNone/>
            </a:pPr>
            <a:r>
              <a:rPr b="1" lang="pt-PT" sz="115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Intransmissibilidade</a:t>
            </a:r>
            <a:endParaRPr b="1" i="0" sz="1150" u="none" cap="none" strike="noStrike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6354254" y="1862740"/>
            <a:ext cx="2705100" cy="27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ts val="12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Ausência total de formatação e comunicação dos dados em saúde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ts val="12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Inexistência de uma plataforma de transmissão segura e estruturada dos dados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None/>
            </a:pPr>
            <a:br>
              <a:rPr b="0" i="0" lang="pt-PT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</a:b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ctrTitle"/>
          </p:nvPr>
        </p:nvSpPr>
        <p:spPr>
          <a:xfrm>
            <a:off x="355600" y="308446"/>
            <a:ext cx="5991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400"/>
              <a:buFont typeface="Nunito"/>
              <a:buNone/>
            </a:pPr>
            <a:r>
              <a:rPr b="1" lang="pt-PT" sz="1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D</a:t>
            </a:r>
            <a:r>
              <a:rPr b="1" lang="pt-PT" sz="1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ados em saúde</a:t>
            </a:r>
            <a:endParaRPr sz="5400"/>
          </a:p>
        </p:txBody>
      </p:sp>
      <p:pic>
        <p:nvPicPr>
          <p:cNvPr descr="Uma imagem com Gráficos, logótipo, design gráfico, Tipo de letra&#10;&#10;Descrição gerada automaticamente" id="78" name="Google Shape;7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6460" y="307601"/>
            <a:ext cx="538997" cy="61806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355602" y="599079"/>
            <a:ext cx="79890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370"/>
              </a:buClr>
              <a:buSzPts val="1400"/>
              <a:buFont typeface="Nunito"/>
              <a:buNone/>
            </a:pPr>
            <a:r>
              <a:rPr lang="pt-PT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Tudo somado…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1295150" y="1381475"/>
            <a:ext cx="13695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085"/>
              <a:buFont typeface="Nunito"/>
              <a:buNone/>
            </a:pPr>
            <a:r>
              <a:rPr b="1" lang="pt-PT" sz="1185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Descentralização</a:t>
            </a:r>
            <a:endParaRPr b="1" i="0" sz="4285" u="none" cap="none" strike="noStrike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937339" y="1381475"/>
            <a:ext cx="12693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ct val="25925"/>
              <a:buFont typeface="Nunito"/>
              <a:buNone/>
            </a:pPr>
            <a:r>
              <a:rPr b="1" lang="pt-PT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Falta de acesso</a:t>
            </a:r>
            <a:endParaRPr b="1" i="0" sz="5400" u="none" cap="none" strike="noStrike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6479349" y="1381475"/>
            <a:ext cx="1702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400"/>
              <a:buFont typeface="Nunito"/>
              <a:buNone/>
            </a:pPr>
            <a:r>
              <a:rPr b="1" lang="pt-PT" sz="115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Intransmissibilidade</a:t>
            </a:r>
            <a:endParaRPr b="1" i="0" sz="1150" u="none" cap="none" strike="noStrike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031438" y="1221275"/>
            <a:ext cx="539100" cy="547500"/>
          </a:xfrm>
          <a:prstGeom prst="plus">
            <a:avLst>
              <a:gd fmla="val 3955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5573450" y="1221275"/>
            <a:ext cx="539100" cy="547500"/>
          </a:xfrm>
          <a:prstGeom prst="plus">
            <a:avLst>
              <a:gd fmla="val 3955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3887275" y="2255475"/>
            <a:ext cx="1369450" cy="177700"/>
          </a:xfrm>
          <a:prstGeom prst="flowChartProcess">
            <a:avLst/>
          </a:prstGeom>
          <a:solidFill>
            <a:schemeClr val="dk1"/>
          </a:solidFill>
          <a:ln cap="flat" cmpd="sng" w="9525">
            <a:solidFill>
              <a:srgbClr val="E400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3887275" y="2590550"/>
            <a:ext cx="1369450" cy="177700"/>
          </a:xfrm>
          <a:prstGeom prst="flowChartProcess">
            <a:avLst/>
          </a:prstGeom>
          <a:solidFill>
            <a:schemeClr val="dk1"/>
          </a:solidFill>
          <a:ln cap="flat" cmpd="sng" w="9525">
            <a:solidFill>
              <a:srgbClr val="E400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3186850" y="2905025"/>
            <a:ext cx="2580300" cy="21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1760150" y="3080075"/>
            <a:ext cx="6908700" cy="19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800"/>
              <a:buFont typeface="Nunito"/>
              <a:buChar char="●"/>
            </a:pPr>
            <a:r>
              <a:rPr b="1" lang="pt-PT" sz="18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Ineficiência na utilização de recursos</a:t>
            </a:r>
            <a:endParaRPr b="1" sz="1800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800"/>
              <a:buFont typeface="Nunito"/>
              <a:buChar char="●"/>
            </a:pPr>
            <a:r>
              <a:rPr b="1" lang="pt-PT" sz="18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Agravamento das listas de espera</a:t>
            </a:r>
            <a:endParaRPr b="1" sz="1800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800"/>
              <a:buFont typeface="Nunito"/>
              <a:buChar char="●"/>
            </a:pPr>
            <a:r>
              <a:rPr b="1" lang="pt-PT" sz="18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Inequidade no acesso aos dados e aos cuidados de saúde</a:t>
            </a:r>
            <a:endParaRPr b="1" sz="1800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ctrTitle"/>
          </p:nvPr>
        </p:nvSpPr>
        <p:spPr>
          <a:xfrm>
            <a:off x="355600" y="308446"/>
            <a:ext cx="5991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400"/>
              <a:buFont typeface="Nunito"/>
              <a:buNone/>
            </a:pPr>
            <a:r>
              <a:rPr b="1" lang="pt-PT" sz="1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r>
              <a:rPr b="1" lang="pt-PT" sz="1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uidados de saúde</a:t>
            </a:r>
            <a:endParaRPr sz="5400"/>
          </a:p>
        </p:txBody>
      </p:sp>
      <p:pic>
        <p:nvPicPr>
          <p:cNvPr descr="Uma imagem com Gráficos, logótipo, design gráfico, Tipo de letra&#10;&#10;Descrição gerada automaticamente" id="94" name="Google Shape;9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6460" y="307601"/>
            <a:ext cx="538997" cy="61806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355602" y="599079"/>
            <a:ext cx="79890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370"/>
              </a:buClr>
              <a:buSzPts val="1400"/>
              <a:buFont typeface="Nunito"/>
              <a:buNone/>
            </a:pPr>
            <a:r>
              <a:rPr lang="pt-PT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Vários grandes problemas</a:t>
            </a:r>
            <a:r>
              <a:rPr lang="pt-PT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…</a:t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991437" y="1500017"/>
            <a:ext cx="12693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ct val="25925"/>
              <a:buFont typeface="Nunito"/>
              <a:buNone/>
            </a:pPr>
            <a:r>
              <a:rPr b="1" lang="pt-PT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Falta de acesso</a:t>
            </a:r>
            <a:endParaRPr b="1" i="0" sz="5400" u="none" cap="none" strike="noStrike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273538" y="2028947"/>
            <a:ext cx="2705100" cy="1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Listas de espera sem fim nos cuidados públicos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lang="pt-PT" sz="1200">
                <a:latin typeface="Nunito"/>
                <a:ea typeface="Nunito"/>
                <a:cs typeface="Nunito"/>
                <a:sym typeface="Nunito"/>
              </a:rPr>
              <a:t>Incapacidade de resposta dos privados a acentuar-se diariamente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3816189" y="1500025"/>
            <a:ext cx="14565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ct val="25925"/>
              <a:buFont typeface="Nunito"/>
              <a:buNone/>
            </a:pPr>
            <a:r>
              <a:rPr b="1" lang="pt-PT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Acesso antiquado</a:t>
            </a:r>
            <a:endParaRPr b="1" i="0" sz="5400" u="none" cap="none" strike="noStrike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3191888" y="2028950"/>
            <a:ext cx="2705100" cy="1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ts val="12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Não existe um método real de procura eficaz para os cuidados de saúde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ts val="12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Em saúde a pesquisa ocorre por meio de plataformas de grandes grupos, motores de pesquisa ou boca-a-boca 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6828136" y="1500013"/>
            <a:ext cx="1702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400"/>
              <a:buFont typeface="Nunito"/>
              <a:buNone/>
            </a:pPr>
            <a:r>
              <a:rPr b="1" lang="pt-PT" sz="115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Falta de alternativas</a:t>
            </a:r>
            <a:endParaRPr b="1" i="0" sz="1150" u="none" cap="none" strike="noStrike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6165363" y="1981497"/>
            <a:ext cx="2705100" cy="18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ts val="12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SNS é A solução pública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ts val="12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Grandes grupos arrecadam quase a totalidade do mercado, pela incapacidade dos pequenos prestadores se exporem</a:t>
            </a:r>
            <a:br>
              <a:rPr b="0" i="0" lang="pt-PT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</a:b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ctrTitle"/>
          </p:nvPr>
        </p:nvSpPr>
        <p:spPr>
          <a:xfrm>
            <a:off x="355600" y="308446"/>
            <a:ext cx="5991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400"/>
              <a:buFont typeface="Nunito"/>
              <a:buNone/>
            </a:pPr>
            <a:r>
              <a:rPr b="1" lang="pt-PT" sz="1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r>
              <a:rPr b="1" lang="pt-PT" sz="1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uidados de saúde</a:t>
            </a:r>
            <a:endParaRPr sz="5400"/>
          </a:p>
        </p:txBody>
      </p:sp>
      <p:pic>
        <p:nvPicPr>
          <p:cNvPr descr="Uma imagem com Gráficos, logótipo, design gráfico, Tipo de letra&#10;&#10;Descrição gerada automaticamente" id="107" name="Google Shape;10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6460" y="307601"/>
            <a:ext cx="538997" cy="61806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355602" y="599079"/>
            <a:ext cx="79890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370"/>
              </a:buClr>
              <a:buSzPts val="1400"/>
              <a:buFont typeface="Nunito"/>
              <a:buNone/>
            </a:pPr>
            <a:r>
              <a:rPr lang="pt-PT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Vários grandes problemas…</a:t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1122799" y="1348192"/>
            <a:ext cx="12693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ct val="25925"/>
              <a:buFont typeface="Nunito"/>
              <a:buNone/>
            </a:pPr>
            <a:r>
              <a:rPr b="1" lang="pt-PT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Falta de acesso</a:t>
            </a:r>
            <a:endParaRPr b="1" i="0" sz="5400" u="none" cap="none" strike="noStrike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3887250" y="1348200"/>
            <a:ext cx="13695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ct val="25925"/>
              <a:buFont typeface="Nunito"/>
              <a:buNone/>
            </a:pPr>
            <a:r>
              <a:rPr b="1" lang="pt-PT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Acesso antiquado</a:t>
            </a:r>
            <a:endParaRPr b="1" i="0" sz="5400" u="none" cap="none" strike="noStrike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6751900" y="1348200"/>
            <a:ext cx="15927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400"/>
              <a:buFont typeface="Nunito"/>
              <a:buNone/>
            </a:pPr>
            <a:r>
              <a:rPr b="1" lang="pt-PT" sz="115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Falta de alternativas</a:t>
            </a:r>
            <a:endParaRPr b="1" i="0" sz="1150" u="none" cap="none" strike="noStrike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2870125" y="1188000"/>
            <a:ext cx="539100" cy="547500"/>
          </a:xfrm>
          <a:prstGeom prst="plus">
            <a:avLst>
              <a:gd fmla="val 3955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5734775" y="1188000"/>
            <a:ext cx="539100" cy="547500"/>
          </a:xfrm>
          <a:prstGeom prst="plus">
            <a:avLst>
              <a:gd fmla="val 3955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3887275" y="2087450"/>
            <a:ext cx="1369450" cy="177700"/>
          </a:xfrm>
          <a:prstGeom prst="flowChartProcess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3887275" y="2394050"/>
            <a:ext cx="1369450" cy="177700"/>
          </a:xfrm>
          <a:prstGeom prst="flowChartProcess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1582575" y="2936875"/>
            <a:ext cx="7231500" cy="19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b="1" lang="pt-PT" sz="1800">
                <a:latin typeface="Nunito"/>
                <a:ea typeface="Nunito"/>
                <a:cs typeface="Nunito"/>
                <a:sym typeface="Nunito"/>
              </a:rPr>
              <a:t>Ineficiência na utilização de recursos</a:t>
            </a:r>
            <a:endParaRPr b="1"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b="1" lang="pt-PT" sz="1800">
                <a:latin typeface="Nunito"/>
                <a:ea typeface="Nunito"/>
                <a:cs typeface="Nunito"/>
                <a:sym typeface="Nunito"/>
              </a:rPr>
              <a:t>Agravamento das listas de espera</a:t>
            </a:r>
            <a:endParaRPr b="1"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b="1" lang="pt-PT" sz="1800">
                <a:latin typeface="Nunito"/>
                <a:ea typeface="Nunito"/>
                <a:cs typeface="Nunito"/>
                <a:sym typeface="Nunito"/>
              </a:rPr>
              <a:t>Inequidade no acesso aos dados e aos cuidados de saúde</a:t>
            </a:r>
            <a:endParaRPr b="1" sz="1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355602" y="599079"/>
            <a:ext cx="79890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370"/>
              </a:buClr>
              <a:buSzPts val="1400"/>
              <a:buFont typeface="Nunito"/>
              <a:buNone/>
            </a:pPr>
            <a:r>
              <a:rPr lang="pt-PT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Vários grandes problemas…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a imagem com Gráficos, logótipo, design gráfico, Tipo de letra&#10;&#10;Descrição gerada automaticamente" id="122" name="Google Shape;12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6975" y="981261"/>
            <a:ext cx="1150050" cy="13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1001474" y="3717450"/>
            <a:ext cx="25098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Medical Wallet </a:t>
            </a:r>
            <a:endParaRPr sz="2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5965963" y="3717450"/>
            <a:ext cx="21006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Marketplace</a:t>
            </a:r>
            <a:endParaRPr sz="26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25" name="Google Shape;125;p19"/>
          <p:cNvCxnSpPr>
            <a:endCxn id="123" idx="0"/>
          </p:cNvCxnSpPr>
          <p:nvPr/>
        </p:nvCxnSpPr>
        <p:spPr>
          <a:xfrm flipH="1">
            <a:off x="2256374" y="2344050"/>
            <a:ext cx="1966500" cy="1373400"/>
          </a:xfrm>
          <a:prstGeom prst="straightConnector1">
            <a:avLst/>
          </a:prstGeom>
          <a:noFill/>
          <a:ln cap="flat" cmpd="sng" w="19050">
            <a:solidFill>
              <a:srgbClr val="2F3F3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9"/>
          <p:cNvCxnSpPr>
            <a:endCxn id="124" idx="0"/>
          </p:cNvCxnSpPr>
          <p:nvPr/>
        </p:nvCxnSpPr>
        <p:spPr>
          <a:xfrm>
            <a:off x="4934863" y="2372550"/>
            <a:ext cx="2081400" cy="1344900"/>
          </a:xfrm>
          <a:prstGeom prst="straightConnector1">
            <a:avLst/>
          </a:prstGeom>
          <a:noFill/>
          <a:ln cap="flat" cmpd="sng" w="19050">
            <a:solidFill>
              <a:srgbClr val="2F3F3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9"/>
          <p:cNvSpPr txBox="1"/>
          <p:nvPr>
            <p:ph type="ctrTitle"/>
          </p:nvPr>
        </p:nvSpPr>
        <p:spPr>
          <a:xfrm>
            <a:off x="355600" y="308446"/>
            <a:ext cx="5991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400"/>
              <a:buFont typeface="Nunito"/>
              <a:buNone/>
            </a:pPr>
            <a:r>
              <a:rPr b="1" lang="pt-PT" sz="1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Umedicu</a:t>
            </a:r>
            <a:endParaRPr sz="5400"/>
          </a:p>
        </p:txBody>
      </p:sp>
      <p:sp>
        <p:nvSpPr>
          <p:cNvPr id="128" name="Google Shape;128;p19"/>
          <p:cNvSpPr txBox="1"/>
          <p:nvPr/>
        </p:nvSpPr>
        <p:spPr>
          <a:xfrm>
            <a:off x="355602" y="599079"/>
            <a:ext cx="79890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370"/>
              </a:buClr>
              <a:buSzPts val="1400"/>
              <a:buFont typeface="Nunito"/>
              <a:buNone/>
            </a:pPr>
            <a:r>
              <a:rPr lang="pt-PT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Uma app, duas soluções…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35" name="Google Shape;135;p20"/>
          <p:cNvSpPr txBox="1"/>
          <p:nvPr/>
        </p:nvSpPr>
        <p:spPr>
          <a:xfrm>
            <a:off x="858635" y="2558164"/>
            <a:ext cx="54609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Medical Wallet </a:t>
            </a:r>
            <a:endParaRPr sz="26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descr="Uma imagem com texto, captura de ecrã&#10;&#10;Descrição gerada automaticamente" id="136" name="Google Shape;13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1" y="-26924"/>
            <a:ext cx="4496726" cy="582662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861625" y="3034275"/>
            <a:ext cx="34392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370"/>
              </a:buClr>
              <a:buSzPts val="2000"/>
              <a:buFont typeface="Nunito"/>
              <a:buNone/>
            </a:pPr>
            <a:r>
              <a:rPr lang="pt-PT" sz="2000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Acesso e democratização dos dados em saúde</a:t>
            </a:r>
            <a:endParaRPr/>
          </a:p>
        </p:txBody>
      </p:sp>
      <p:sp>
        <p:nvSpPr>
          <p:cNvPr id="138" name="Google Shape;138;p20"/>
          <p:cNvSpPr txBox="1"/>
          <p:nvPr/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ctrTitle"/>
          </p:nvPr>
        </p:nvSpPr>
        <p:spPr>
          <a:xfrm>
            <a:off x="355600" y="308446"/>
            <a:ext cx="5991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400"/>
              <a:buFont typeface="Nunito"/>
              <a:buNone/>
            </a:pPr>
            <a:r>
              <a:rPr b="1" lang="pt-PT" sz="1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Medical Wallet</a:t>
            </a:r>
            <a:endParaRPr sz="5400"/>
          </a:p>
        </p:txBody>
      </p:sp>
      <p:sp>
        <p:nvSpPr>
          <p:cNvPr id="144" name="Google Shape;144;p21"/>
          <p:cNvSpPr txBox="1"/>
          <p:nvPr/>
        </p:nvSpPr>
        <p:spPr>
          <a:xfrm>
            <a:off x="355602" y="599079"/>
            <a:ext cx="79890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370"/>
              </a:buClr>
              <a:buSzPts val="1400"/>
              <a:buFont typeface="Nunito"/>
              <a:buNone/>
            </a:pPr>
            <a:r>
              <a:rPr lang="pt-PT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O produto…</a:t>
            </a:r>
            <a:endParaRPr/>
          </a:p>
        </p:txBody>
      </p:sp>
      <p:sp>
        <p:nvSpPr>
          <p:cNvPr id="145" name="Google Shape;145;p21"/>
          <p:cNvSpPr txBox="1"/>
          <p:nvPr/>
        </p:nvSpPr>
        <p:spPr>
          <a:xfrm>
            <a:off x="1901225" y="1659250"/>
            <a:ext cx="14988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370"/>
              </a:buClr>
              <a:buSzPts val="1400"/>
              <a:buFont typeface="Nunito"/>
              <a:buNone/>
            </a:pPr>
            <a:r>
              <a:rPr b="1" lang="pt-PT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Onde estamos</a:t>
            </a:r>
            <a:endParaRPr b="1"/>
          </a:p>
        </p:txBody>
      </p:sp>
      <p:sp>
        <p:nvSpPr>
          <p:cNvPr id="146" name="Google Shape;146;p21"/>
          <p:cNvSpPr txBox="1"/>
          <p:nvPr/>
        </p:nvSpPr>
        <p:spPr>
          <a:xfrm>
            <a:off x="1428100" y="2177625"/>
            <a:ext cx="3251400" cy="26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9908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Carteira pessoal formatada para receber todos os documentos e registos relacionados com a saúde, exames, relatórios, sintomas, medicação etc.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908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ct val="1000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Ferramenta de partilha rápida do registo </a:t>
            </a: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clínico</a:t>
            </a: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 pessoal com o profissional de saúde com possibilidade de </a:t>
            </a: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visualização</a:t>
            </a: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 do mesmo no seu desktop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908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ct val="1000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Upload manual de toda a informação por parte do utilizador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2702" y="167200"/>
            <a:ext cx="1792851" cy="388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4725" y="920675"/>
            <a:ext cx="1826049" cy="3954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ctrTitle"/>
          </p:nvPr>
        </p:nvSpPr>
        <p:spPr>
          <a:xfrm>
            <a:off x="355600" y="308446"/>
            <a:ext cx="5991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400"/>
              <a:buFont typeface="Nunito"/>
              <a:buNone/>
            </a:pPr>
            <a:r>
              <a:rPr b="1" lang="pt-PT" sz="1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Medical Wallet</a:t>
            </a:r>
            <a:endParaRPr sz="5400"/>
          </a:p>
        </p:txBody>
      </p:sp>
      <p:sp>
        <p:nvSpPr>
          <p:cNvPr id="154" name="Google Shape;154;p22"/>
          <p:cNvSpPr txBox="1"/>
          <p:nvPr/>
        </p:nvSpPr>
        <p:spPr>
          <a:xfrm>
            <a:off x="355602" y="599079"/>
            <a:ext cx="79890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370"/>
              </a:buClr>
              <a:buSzPts val="1400"/>
              <a:buFont typeface="Nunito"/>
              <a:buNone/>
            </a:pPr>
            <a:r>
              <a:rPr lang="pt-PT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O produto…</a:t>
            </a:r>
            <a:endParaRPr/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4551" y="110275"/>
            <a:ext cx="2279424" cy="300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 txBox="1"/>
          <p:nvPr/>
        </p:nvSpPr>
        <p:spPr>
          <a:xfrm>
            <a:off x="1901225" y="1659250"/>
            <a:ext cx="21030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370"/>
              </a:buClr>
              <a:buSzPts val="1400"/>
              <a:buFont typeface="Nunito"/>
              <a:buNone/>
            </a:pPr>
            <a:r>
              <a:rPr b="1" lang="pt-PT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Onde vamos chegar</a:t>
            </a:r>
            <a:endParaRPr b="1"/>
          </a:p>
        </p:txBody>
      </p:sp>
      <p:sp>
        <p:nvSpPr>
          <p:cNvPr id="157" name="Google Shape;157;p22"/>
          <p:cNvSpPr txBox="1"/>
          <p:nvPr/>
        </p:nvSpPr>
        <p:spPr>
          <a:xfrm>
            <a:off x="1428100" y="2177625"/>
            <a:ext cx="3251400" cy="28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ts val="12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Registo centralizado e único de todos os dados relativos à saúde do utilizador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ts val="12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Integração com o maior número de prestadores de cuidados de saúde possível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ts val="12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Estabelecimento</a:t>
            </a: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 de protocolos de comunicação para a atualização automática do perfil clínico do utilizador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8" name="Google Shape;15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0125" y="3309212"/>
            <a:ext cx="486833" cy="44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36575" y="2899125"/>
            <a:ext cx="447300" cy="44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23274" y="3404324"/>
            <a:ext cx="410100" cy="4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29175" y="3871600"/>
            <a:ext cx="410100" cy="4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92050" y="3309206"/>
            <a:ext cx="447300" cy="447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504225" y="2719000"/>
            <a:ext cx="486825" cy="48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14900" y="3346425"/>
            <a:ext cx="525175" cy="52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241011" y="3912625"/>
            <a:ext cx="926126" cy="44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570176" y="4076174"/>
            <a:ext cx="639925" cy="64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378798" y="4134992"/>
            <a:ext cx="525175" cy="525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577422" y="4516025"/>
            <a:ext cx="525175" cy="52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3"/>
          <p:cNvSpPr txBox="1"/>
          <p:nvPr>
            <p:ph idx="12" type="sldNum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75" name="Google Shape;175;p23"/>
          <p:cNvSpPr txBox="1"/>
          <p:nvPr/>
        </p:nvSpPr>
        <p:spPr>
          <a:xfrm>
            <a:off x="858635" y="2558164"/>
            <a:ext cx="54609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Marketplace</a:t>
            </a:r>
            <a:endParaRPr sz="2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861625" y="3034275"/>
            <a:ext cx="38394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370"/>
              </a:buClr>
              <a:buSzPts val="2000"/>
              <a:buFont typeface="Nunito"/>
              <a:buNone/>
            </a:pPr>
            <a:r>
              <a:rPr lang="pt-PT" sz="2000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Agilizar a procura e marcação de cuidados de saúde</a:t>
            </a:r>
            <a:endParaRPr/>
          </a:p>
        </p:txBody>
      </p:sp>
      <p:sp>
        <p:nvSpPr>
          <p:cNvPr id="177" name="Google Shape;177;p23"/>
          <p:cNvSpPr txBox="1"/>
          <p:nvPr/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78" name="Google Shape;17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68215">
            <a:off x="5896626" y="513100"/>
            <a:ext cx="1973676" cy="427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4"/>
          <p:cNvSpPr txBox="1"/>
          <p:nvPr/>
        </p:nvSpPr>
        <p:spPr>
          <a:xfrm>
            <a:off x="742100" y="407828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85" name="Google Shape;185;p24"/>
          <p:cNvSpPr txBox="1"/>
          <p:nvPr>
            <p:ph type="ctrTitle"/>
          </p:nvPr>
        </p:nvSpPr>
        <p:spPr>
          <a:xfrm>
            <a:off x="355600" y="308446"/>
            <a:ext cx="5991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400"/>
              <a:buFont typeface="Nunito"/>
              <a:buNone/>
            </a:pPr>
            <a:r>
              <a:rPr b="1" lang="pt-PT" sz="1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Marketplace</a:t>
            </a:r>
            <a:endParaRPr sz="5400"/>
          </a:p>
        </p:txBody>
      </p:sp>
      <p:sp>
        <p:nvSpPr>
          <p:cNvPr id="186" name="Google Shape;186;p24"/>
          <p:cNvSpPr txBox="1"/>
          <p:nvPr/>
        </p:nvSpPr>
        <p:spPr>
          <a:xfrm>
            <a:off x="355602" y="599079"/>
            <a:ext cx="79890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370"/>
              </a:buClr>
              <a:buSzPts val="1400"/>
              <a:buFont typeface="Nunito"/>
              <a:buNone/>
            </a:pPr>
            <a:r>
              <a:rPr lang="pt-PT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O produto…</a:t>
            </a:r>
            <a:endParaRPr/>
          </a:p>
        </p:txBody>
      </p:sp>
      <p:sp>
        <p:nvSpPr>
          <p:cNvPr id="187" name="Google Shape;187;p24"/>
          <p:cNvSpPr txBox="1"/>
          <p:nvPr/>
        </p:nvSpPr>
        <p:spPr>
          <a:xfrm>
            <a:off x="1133550" y="1424675"/>
            <a:ext cx="14988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370"/>
              </a:buClr>
              <a:buSzPts val="1400"/>
              <a:buFont typeface="Nunito"/>
              <a:buNone/>
            </a:pPr>
            <a:r>
              <a:rPr b="1" lang="pt-PT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Onde estamos</a:t>
            </a:r>
            <a:endParaRPr b="1"/>
          </a:p>
        </p:txBody>
      </p:sp>
      <p:sp>
        <p:nvSpPr>
          <p:cNvPr id="188" name="Google Shape;188;p24"/>
          <p:cNvSpPr txBox="1"/>
          <p:nvPr/>
        </p:nvSpPr>
        <p:spPr>
          <a:xfrm>
            <a:off x="618525" y="1744025"/>
            <a:ext cx="3439500" cy="29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9908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ct val="1000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Ferramenta de pesquisa e agendamento centralizada de cuidados de saúde personalizados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908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ct val="1000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Aberta a prestadores de cuidados em várias áreas da saúde: medicina, enfermagem, psicologia, fisioterapia etc.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908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ct val="1000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Backoffice para gestão de profissionais, marcações e pacientes 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908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ct val="1000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Sistema de gestão eficaz e </a:t>
            </a: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automática</a:t>
            </a: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 de cancelamentos de </a:t>
            </a: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última</a:t>
            </a: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 hora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908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ct val="1000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Sistema de reminders para redução da taxa de </a:t>
            </a:r>
            <a:r>
              <a:rPr i="1"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No Shows 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9" name="Google Shape;18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9800" y="833625"/>
            <a:ext cx="1549547" cy="335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9352" y="1833425"/>
            <a:ext cx="3439417" cy="2460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>
            <p:ph type="ctrTitle"/>
          </p:nvPr>
        </p:nvSpPr>
        <p:spPr>
          <a:xfrm>
            <a:off x="355600" y="308446"/>
            <a:ext cx="5991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400"/>
              <a:buFont typeface="Nunito"/>
              <a:buNone/>
            </a:pPr>
            <a:r>
              <a:rPr b="1" lang="pt-PT" sz="1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Marketplace</a:t>
            </a:r>
            <a:endParaRPr sz="5400"/>
          </a:p>
        </p:txBody>
      </p:sp>
      <p:sp>
        <p:nvSpPr>
          <p:cNvPr id="197" name="Google Shape;197;p25"/>
          <p:cNvSpPr txBox="1"/>
          <p:nvPr/>
        </p:nvSpPr>
        <p:spPr>
          <a:xfrm>
            <a:off x="355602" y="599079"/>
            <a:ext cx="79890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370"/>
              </a:buClr>
              <a:buSzPts val="1400"/>
              <a:buFont typeface="Nunito"/>
              <a:buNone/>
            </a:pPr>
            <a:r>
              <a:rPr lang="pt-PT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O produto…</a:t>
            </a:r>
            <a:endParaRPr/>
          </a:p>
        </p:txBody>
      </p:sp>
      <p:sp>
        <p:nvSpPr>
          <p:cNvPr id="198" name="Google Shape;198;p25"/>
          <p:cNvSpPr txBox="1"/>
          <p:nvPr/>
        </p:nvSpPr>
        <p:spPr>
          <a:xfrm>
            <a:off x="6066625" y="1703325"/>
            <a:ext cx="21669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370"/>
              </a:buClr>
              <a:buSzPts val="1400"/>
              <a:buFont typeface="Nunito"/>
              <a:buNone/>
            </a:pPr>
            <a:r>
              <a:rPr b="1" lang="pt-PT">
                <a:solidFill>
                  <a:srgbClr val="5E7370"/>
                </a:solidFill>
                <a:latin typeface="Nunito"/>
                <a:ea typeface="Nunito"/>
                <a:cs typeface="Nunito"/>
                <a:sym typeface="Nunito"/>
              </a:rPr>
              <a:t>Onde vamos chegar</a:t>
            </a:r>
            <a:endParaRPr b="1"/>
          </a:p>
        </p:txBody>
      </p:sp>
      <p:sp>
        <p:nvSpPr>
          <p:cNvPr id="199" name="Google Shape;199;p25"/>
          <p:cNvSpPr txBox="1"/>
          <p:nvPr/>
        </p:nvSpPr>
        <p:spPr>
          <a:xfrm>
            <a:off x="5593500" y="2221700"/>
            <a:ext cx="3251400" cy="24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ts val="12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O paciente com um local de pesquisa de cuidados personalizados às suas necessidades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6554D"/>
              </a:buClr>
              <a:buSzPts val="1200"/>
              <a:buFont typeface="Nunito"/>
              <a:buChar char="●"/>
            </a:pPr>
            <a:r>
              <a:rPr lang="pt-PT" sz="1200">
                <a:solidFill>
                  <a:srgbClr val="56554D"/>
                </a:solidFill>
                <a:latin typeface="Nunito"/>
                <a:ea typeface="Nunito"/>
                <a:cs typeface="Nunito"/>
                <a:sym typeface="Nunito"/>
              </a:rPr>
              <a:t>O profissional com uma ferramenta de expansão no mercado e aquisição de novos clientes, com diminuição dos custos administrativos</a:t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6554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0" name="Google Shape;20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425" y="942750"/>
            <a:ext cx="1549547" cy="335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4077" y="1008900"/>
            <a:ext cx="3439416" cy="2460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5151" y="3881750"/>
            <a:ext cx="9398149" cy="36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/>
          <p:nvPr>
            <p:ph type="ctrTitle"/>
          </p:nvPr>
        </p:nvSpPr>
        <p:spPr>
          <a:xfrm>
            <a:off x="355600" y="308446"/>
            <a:ext cx="5991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400"/>
              <a:buFont typeface="Nunito"/>
              <a:buNone/>
            </a:pPr>
            <a:r>
              <a:rPr b="1" lang="pt-PT" sz="1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Timeline</a:t>
            </a:r>
            <a:endParaRPr sz="5400"/>
          </a:p>
        </p:txBody>
      </p:sp>
      <p:sp>
        <p:nvSpPr>
          <p:cNvPr id="208" name="Google Shape;208;p26"/>
          <p:cNvSpPr/>
          <p:nvPr/>
        </p:nvSpPr>
        <p:spPr>
          <a:xfrm>
            <a:off x="1594013" y="3466600"/>
            <a:ext cx="121200" cy="462600"/>
          </a:xfrm>
          <a:prstGeom prst="rect">
            <a:avLst/>
          </a:prstGeom>
          <a:solidFill>
            <a:srgbClr val="EF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6"/>
          <p:cNvSpPr txBox="1"/>
          <p:nvPr/>
        </p:nvSpPr>
        <p:spPr>
          <a:xfrm>
            <a:off x="1142725" y="4181300"/>
            <a:ext cx="10824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2F3F3D"/>
                </a:solidFill>
              </a:rPr>
              <a:t>Junho 24</a:t>
            </a:r>
            <a:endParaRPr sz="1600">
              <a:solidFill>
                <a:srgbClr val="2F3F3D"/>
              </a:solidFill>
            </a:endParaRPr>
          </a:p>
        </p:txBody>
      </p:sp>
      <p:pic>
        <p:nvPicPr>
          <p:cNvPr id="210" name="Google Shape;21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5523" y="1064009"/>
            <a:ext cx="1373151" cy="180934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/>
          <p:nvPr/>
        </p:nvSpPr>
        <p:spPr>
          <a:xfrm>
            <a:off x="3213925" y="2873338"/>
            <a:ext cx="21195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2F3F3D"/>
                </a:solidFill>
              </a:rPr>
              <a:t>V1 - Medical wallet</a:t>
            </a:r>
            <a:endParaRPr sz="1600">
              <a:solidFill>
                <a:srgbClr val="2F3F3D"/>
              </a:solidFill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4149513" y="3466600"/>
            <a:ext cx="121200" cy="462600"/>
          </a:xfrm>
          <a:prstGeom prst="rect">
            <a:avLst/>
          </a:prstGeom>
          <a:solidFill>
            <a:srgbClr val="D2EE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"/>
          <p:cNvSpPr txBox="1"/>
          <p:nvPr/>
        </p:nvSpPr>
        <p:spPr>
          <a:xfrm>
            <a:off x="666100" y="2831413"/>
            <a:ext cx="21195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2F3F3D"/>
                </a:solidFill>
              </a:rPr>
              <a:t>Início de desenvolvimento</a:t>
            </a:r>
            <a:endParaRPr sz="1600">
              <a:solidFill>
                <a:srgbClr val="2F3F3D"/>
              </a:solidFill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3680900" y="4177050"/>
            <a:ext cx="14604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2F3F3D"/>
                </a:solidFill>
              </a:rPr>
              <a:t>Outubro</a:t>
            </a:r>
            <a:r>
              <a:rPr lang="pt-PT" sz="1600">
                <a:solidFill>
                  <a:srgbClr val="2F3F3D"/>
                </a:solidFill>
              </a:rPr>
              <a:t> 24</a:t>
            </a:r>
            <a:endParaRPr sz="1600">
              <a:solidFill>
                <a:srgbClr val="2F3F3D"/>
              </a:solidFill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7106988" y="3466600"/>
            <a:ext cx="121200" cy="462600"/>
          </a:xfrm>
          <a:prstGeom prst="rect">
            <a:avLst/>
          </a:prstGeom>
          <a:solidFill>
            <a:srgbClr val="95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6"/>
          <p:cNvSpPr txBox="1"/>
          <p:nvPr/>
        </p:nvSpPr>
        <p:spPr>
          <a:xfrm>
            <a:off x="6597075" y="4177050"/>
            <a:ext cx="14604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2F3F3D"/>
                </a:solidFill>
              </a:rPr>
              <a:t>Dezembro</a:t>
            </a:r>
            <a:r>
              <a:rPr lang="pt-PT" sz="1600">
                <a:solidFill>
                  <a:srgbClr val="2F3F3D"/>
                </a:solidFill>
              </a:rPr>
              <a:t> 24</a:t>
            </a:r>
            <a:endParaRPr sz="1600">
              <a:solidFill>
                <a:srgbClr val="2F3F3D"/>
              </a:solidFill>
            </a:endParaRPr>
          </a:p>
        </p:txBody>
      </p:sp>
      <p:sp>
        <p:nvSpPr>
          <p:cNvPr id="217" name="Google Shape;217;p26"/>
          <p:cNvSpPr txBox="1"/>
          <p:nvPr/>
        </p:nvSpPr>
        <p:spPr>
          <a:xfrm>
            <a:off x="6022850" y="2873338"/>
            <a:ext cx="21195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2F3F3D"/>
                </a:solidFill>
              </a:rPr>
              <a:t>V1 - Marketplace</a:t>
            </a:r>
            <a:endParaRPr sz="1600">
              <a:solidFill>
                <a:srgbClr val="2F3F3D"/>
              </a:solidFill>
            </a:endParaRPr>
          </a:p>
        </p:txBody>
      </p:sp>
      <p:pic>
        <p:nvPicPr>
          <p:cNvPr id="218" name="Google Shape;21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7375" y="1091825"/>
            <a:ext cx="888750" cy="1753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18981" y="1238992"/>
            <a:ext cx="1972695" cy="1287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type="ctrTitle"/>
          </p:nvPr>
        </p:nvSpPr>
        <p:spPr>
          <a:xfrm>
            <a:off x="258030" y="1875084"/>
            <a:ext cx="37833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2400"/>
              <a:buFont typeface="Nunito"/>
              <a:buNone/>
            </a:pPr>
            <a:r>
              <a:rPr b="1" lang="pt-PT" sz="24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Quem somos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descr="Uma imagem com Gráficos, logótipo, design gráfico, Tipo de letra&#10;&#10;Descrição gerada automaticamente" id="225" name="Google Shape;22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439" y="768257"/>
            <a:ext cx="824746" cy="939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8275" y="259413"/>
            <a:ext cx="1389774" cy="134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5112" y="445363"/>
            <a:ext cx="1268125" cy="1270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7"/>
          <p:cNvSpPr txBox="1"/>
          <p:nvPr/>
        </p:nvSpPr>
        <p:spPr>
          <a:xfrm>
            <a:off x="3008487" y="1875063"/>
            <a:ext cx="20214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100"/>
              <a:buFont typeface="Nunito"/>
              <a:buNone/>
            </a:pPr>
            <a:r>
              <a:rPr b="1" lang="pt-PT" sz="18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José Pais </a:t>
            </a:r>
            <a:endParaRPr b="1" sz="1800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100"/>
              <a:buFont typeface="Nunito"/>
              <a:buNone/>
            </a:pPr>
            <a:r>
              <a:rPr b="1" lang="pt-PT" sz="11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Fundador e CEO</a:t>
            </a:r>
            <a:endParaRPr b="1" sz="1100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9" name="Google Shape;229;p27"/>
          <p:cNvSpPr txBox="1"/>
          <p:nvPr/>
        </p:nvSpPr>
        <p:spPr>
          <a:xfrm>
            <a:off x="5896168" y="1875052"/>
            <a:ext cx="25071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100"/>
              <a:buFont typeface="Nunito"/>
              <a:buNone/>
            </a:pPr>
            <a:r>
              <a:rPr b="1" lang="pt-PT" sz="18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Guilherme Fernandes</a:t>
            </a:r>
            <a:endParaRPr b="1" sz="1800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100"/>
              <a:buFont typeface="Nunito"/>
              <a:buNone/>
            </a:pPr>
            <a:r>
              <a:rPr b="1" lang="pt-PT" sz="11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COO</a:t>
            </a:r>
            <a:endParaRPr b="1" sz="1100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0" name="Google Shape;230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11983" y="2685625"/>
            <a:ext cx="1366774" cy="124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67389" y="2685626"/>
            <a:ext cx="1454309" cy="1323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7"/>
          <p:cNvSpPr txBox="1"/>
          <p:nvPr/>
        </p:nvSpPr>
        <p:spPr>
          <a:xfrm>
            <a:off x="3601720" y="4059594"/>
            <a:ext cx="1787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100"/>
              <a:buFont typeface="Nunito"/>
              <a:buNone/>
            </a:pPr>
            <a:r>
              <a:rPr b="1" lang="pt-PT" sz="18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LOAD</a:t>
            </a:r>
            <a:endParaRPr b="1" sz="1800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100"/>
              <a:buFont typeface="Nunito"/>
              <a:buNone/>
            </a:pPr>
            <a:r>
              <a:rPr b="1" lang="pt-PT" sz="11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Equipa de desenvolvimento</a:t>
            </a:r>
            <a:endParaRPr b="1" sz="1100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3" name="Google Shape;233;p27"/>
          <p:cNvSpPr txBox="1"/>
          <p:nvPr/>
        </p:nvSpPr>
        <p:spPr>
          <a:xfrm>
            <a:off x="5985883" y="4059594"/>
            <a:ext cx="2417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100"/>
              <a:buFont typeface="Nunito"/>
              <a:buNone/>
            </a:pPr>
            <a:r>
              <a:rPr b="1" lang="pt-PT" sz="18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Grupo Amorim Saúde</a:t>
            </a:r>
            <a:endParaRPr b="1" sz="1800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1100"/>
              <a:buFont typeface="Nunito"/>
              <a:buNone/>
            </a:pPr>
            <a:r>
              <a:rPr b="1" lang="pt-PT" sz="11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Investidor</a:t>
            </a:r>
            <a:endParaRPr b="1" sz="1100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a imagem com Gráficos, logótipo, design gráfico, Tipo de letra&#10;&#10;Descrição gerada automaticamente" id="238" name="Google Shape;23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375" y="584926"/>
            <a:ext cx="1279537" cy="145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m desenho, vestuário, ilustração&#10;&#10;Descrição gerada automaticamente" id="239" name="Google Shape;23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43678" y="1417263"/>
            <a:ext cx="1413649" cy="1544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m texto, computador, captura de ecrã, multimédia&#10;&#10;Descrição gerada automaticamente" id="240" name="Google Shape;240;p28"/>
          <p:cNvPicPr preferRelativeResize="0"/>
          <p:nvPr/>
        </p:nvPicPr>
        <p:blipFill rotWithShape="1">
          <a:blip r:embed="rId6">
            <a:alphaModFix/>
          </a:blip>
          <a:srcRect b="2280" l="4425" r="16685" t="31239"/>
          <a:stretch/>
        </p:blipFill>
        <p:spPr>
          <a:xfrm>
            <a:off x="3057652" y="2630931"/>
            <a:ext cx="6087487" cy="252098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8"/>
          <p:cNvSpPr txBox="1"/>
          <p:nvPr/>
        </p:nvSpPr>
        <p:spPr>
          <a:xfrm>
            <a:off x="675365" y="4663164"/>
            <a:ext cx="18702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4005B"/>
              </a:buClr>
              <a:buSzPts val="900"/>
              <a:buFont typeface="Play"/>
              <a:buNone/>
            </a:pPr>
            <a:r>
              <a:rPr b="1" i="0" lang="pt-PT" sz="1500" u="none" cap="none" strike="noStrike">
                <a:solidFill>
                  <a:srgbClr val="E4005B"/>
                </a:solidFill>
                <a:latin typeface="Play"/>
                <a:ea typeface="Play"/>
                <a:cs typeface="Play"/>
                <a:sym typeface="Play"/>
              </a:rPr>
              <a:t>www.umedicu.com</a:t>
            </a:r>
            <a:endParaRPr b="0" i="0" sz="4700" u="none" cap="none" strike="noStrike">
              <a:solidFill>
                <a:srgbClr val="E4005B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2" name="Google Shape;242;p28"/>
          <p:cNvSpPr txBox="1"/>
          <p:nvPr>
            <p:ph idx="12" type="sldNum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3" name="Google Shape;243;p28"/>
          <p:cNvSpPr txBox="1"/>
          <p:nvPr>
            <p:ph type="ctrTitle"/>
          </p:nvPr>
        </p:nvSpPr>
        <p:spPr>
          <a:xfrm>
            <a:off x="606924" y="2312666"/>
            <a:ext cx="37833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F3D"/>
              </a:buClr>
              <a:buSzPts val="2400"/>
              <a:buFont typeface="Nunito"/>
              <a:buNone/>
            </a:pPr>
            <a:r>
              <a:rPr b="1" lang="pt-PT" sz="2600">
                <a:solidFill>
                  <a:srgbClr val="2F3F3D"/>
                </a:solidFill>
                <a:latin typeface="Nunito"/>
                <a:ea typeface="Nunito"/>
                <a:cs typeface="Nunito"/>
                <a:sym typeface="Nunito"/>
              </a:rPr>
              <a:t>Obrigado!</a:t>
            </a:r>
            <a:endParaRPr b="1" sz="2600">
              <a:solidFill>
                <a:srgbClr val="2F3F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E72A75"/>
      </a:dk1>
      <a:lt1>
        <a:srgbClr val="FBF0F5"/>
      </a:lt1>
      <a:dk2>
        <a:srgbClr val="BBF6F5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