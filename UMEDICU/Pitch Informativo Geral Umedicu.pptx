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Nunito SemiBold"/>
      <p:regular r:id="rId21"/>
      <p:bold r:id="rId22"/>
      <p:italic r:id="rId23"/>
      <p:boldItalic r:id="rId24"/>
    </p:embeddedFont>
    <p:embeddedFont>
      <p:font typeface="Play"/>
      <p:regular r:id="rId25"/>
      <p:bold r:id="rId26"/>
    </p:embeddedFont>
    <p:embeddedFont>
      <p:font typeface="Nunito"/>
      <p:regular r:id="rId27"/>
      <p:bold r:id="rId28"/>
      <p:italic r:id="rId29"/>
      <p:boldItalic r:id="rId30"/>
    </p:embeddedFont>
    <p:embeddedFont>
      <p:font typeface="Nunito ExtraBold"/>
      <p:bold r:id="rId31"/>
      <p:boldItalic r:id="rId32"/>
    </p:embeddedFont>
    <p:embeddedFont>
      <p:font typeface="Nunito Ligh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gDnl5EXSNgkZvsc4UBcMUFz9Rh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NunitoSemiBold-bold.fntdata"/><Relationship Id="rId21" Type="http://schemas.openxmlformats.org/officeDocument/2006/relationships/font" Target="fonts/NunitoSemiBold-regular.fntdata"/><Relationship Id="rId24" Type="http://schemas.openxmlformats.org/officeDocument/2006/relationships/font" Target="fonts/NunitoSemiBold-boldItalic.fntdata"/><Relationship Id="rId23" Type="http://schemas.openxmlformats.org/officeDocument/2006/relationships/font" Target="fonts/Nunito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lay-bold.fntdata"/><Relationship Id="rId25" Type="http://schemas.openxmlformats.org/officeDocument/2006/relationships/font" Target="fonts/Play-regular.fntdata"/><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Nunito-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NunitoExtraBold-bold.fntdata"/><Relationship Id="rId30" Type="http://schemas.openxmlformats.org/officeDocument/2006/relationships/font" Target="fonts/Nunito-boldItalic.fntdata"/><Relationship Id="rId11" Type="http://schemas.openxmlformats.org/officeDocument/2006/relationships/slide" Target="slides/slide7.xml"/><Relationship Id="rId33" Type="http://schemas.openxmlformats.org/officeDocument/2006/relationships/font" Target="fonts/NunitoLight-regular.fntdata"/><Relationship Id="rId10" Type="http://schemas.openxmlformats.org/officeDocument/2006/relationships/slide" Target="slides/slide6.xml"/><Relationship Id="rId32" Type="http://schemas.openxmlformats.org/officeDocument/2006/relationships/font" Target="fonts/NunitoExtraBold-boldItalic.fntdata"/><Relationship Id="rId13" Type="http://schemas.openxmlformats.org/officeDocument/2006/relationships/slide" Target="slides/slide9.xml"/><Relationship Id="rId35" Type="http://schemas.openxmlformats.org/officeDocument/2006/relationships/font" Target="fonts/NunitoLight-italic.fntdata"/><Relationship Id="rId12" Type="http://schemas.openxmlformats.org/officeDocument/2006/relationships/slide" Target="slides/slide8.xml"/><Relationship Id="rId34" Type="http://schemas.openxmlformats.org/officeDocument/2006/relationships/font" Target="fonts/NunitoLight-bold.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NunitoLight-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sz="1400"/>
              <a:t>Comentários gerais: </a:t>
            </a:r>
            <a:endParaRPr sz="1400"/>
          </a:p>
          <a:p>
            <a:pPr indent="0" lvl="0" marL="0" rtl="0" algn="l">
              <a:spcBef>
                <a:spcPts val="0"/>
              </a:spcBef>
              <a:spcAft>
                <a:spcPts val="0"/>
              </a:spcAft>
              <a:buNone/>
            </a:pPr>
            <a:r>
              <a:rPr lang="pt-PT" sz="1400"/>
              <a:t>Para cada slide temos que ter uma versão curta e uma versão extensa</a:t>
            </a:r>
            <a:endParaRPr sz="1400"/>
          </a:p>
          <a:p>
            <a:pPr indent="0" lvl="0" marL="0" rtl="0" algn="l">
              <a:spcBef>
                <a:spcPts val="0"/>
              </a:spcBef>
              <a:spcAft>
                <a:spcPts val="0"/>
              </a:spcAft>
              <a:buNone/>
            </a:pPr>
            <a:r>
              <a:rPr lang="pt-PT" sz="1400"/>
              <a:t>Slide com estatísticas</a:t>
            </a:r>
            <a:endParaRPr sz="1400"/>
          </a:p>
          <a:p>
            <a:pPr indent="0" lvl="0" marL="0" rtl="0" algn="l">
              <a:spcBef>
                <a:spcPts val="0"/>
              </a:spcBef>
              <a:spcAft>
                <a:spcPts val="0"/>
              </a:spcAft>
              <a:buNone/>
            </a:pPr>
            <a:r>
              <a:rPr lang="pt-PT" sz="1400"/>
              <a:t>Roadmap</a:t>
            </a:r>
            <a:endParaRPr sz="1400"/>
          </a:p>
          <a:p>
            <a:pPr indent="0" lvl="0" marL="0" rtl="0" algn="l">
              <a:spcBef>
                <a:spcPts val="0"/>
              </a:spcBef>
              <a:spcAft>
                <a:spcPts val="0"/>
              </a:spcAft>
              <a:buNone/>
            </a:pPr>
            <a:r>
              <a:rPr lang="pt-PT" sz="1400"/>
              <a:t>Slide com projeção financeira - incluindo dinheiro dos fundos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
        <p:nvSpPr>
          <p:cNvPr id="82" name="Google Shape;8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fdba227523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fdba227523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fdba227523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fdba227523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dba2275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2fdba22752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fdba22752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2fdba227523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fdba22752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2fdba227523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fdba22752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2fdba227523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fdba227523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2fdba227523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0102cbb4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0102cbb44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a43ceff7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Falta o meu pai - tem que aparecer como investidor ou algo parecido</a:t>
            </a:r>
            <a:endParaRPr/>
          </a:p>
          <a:p>
            <a:pPr indent="0" lvl="0" marL="0" rtl="0" algn="l">
              <a:spcBef>
                <a:spcPts val="0"/>
              </a:spcBef>
              <a:spcAft>
                <a:spcPts val="0"/>
              </a:spcAft>
              <a:buNone/>
            </a:pPr>
            <a:r>
              <a:rPr lang="pt-PT"/>
              <a:t>Falta LOAD com equipa tecnica</a:t>
            </a:r>
            <a:endParaRPr/>
          </a:p>
          <a:p>
            <a:pPr indent="0" lvl="0" marL="0" rtl="0" algn="l">
              <a:spcBef>
                <a:spcPts val="0"/>
              </a:spcBef>
              <a:spcAft>
                <a:spcPts val="0"/>
              </a:spcAft>
              <a:buNone/>
            </a:pPr>
            <a:r>
              <a:t/>
            </a:r>
            <a:endParaRPr/>
          </a:p>
        </p:txBody>
      </p:sp>
      <p:sp>
        <p:nvSpPr>
          <p:cNvPr id="291" name="Google Shape;291;g2a43ceff74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o de título"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objecto" type="obj">
  <p:cSld name="OBJECT">
    <p:spTree>
      <p:nvGrpSpPr>
        <p:cNvPr id="17" name="Shape 17"/>
        <p:cNvGrpSpPr/>
        <p:nvPr/>
      </p:nvGrpSpPr>
      <p:grpSpPr>
        <a:xfrm>
          <a:off x="0" y="0"/>
          <a:ext cx="0" cy="0"/>
          <a:chOff x="0" y="0"/>
          <a:chExt cx="0" cy="0"/>
        </a:xfrm>
      </p:grpSpPr>
      <p:sp>
        <p:nvSpPr>
          <p:cNvPr id="18" name="Google Shape;1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cção" type="secHead">
  <p:cSld name="SECTION_HEADER">
    <p:spTree>
      <p:nvGrpSpPr>
        <p:cNvPr id="23" name="Shape 23"/>
        <p:cNvGrpSpPr/>
        <p:nvPr/>
      </p:nvGrpSpPr>
      <p:grpSpPr>
        <a:xfrm>
          <a:off x="0" y="0"/>
          <a:ext cx="0" cy="0"/>
          <a:chOff x="0" y="0"/>
          <a:chExt cx="0" cy="0"/>
        </a:xfrm>
      </p:grpSpPr>
      <p:sp>
        <p:nvSpPr>
          <p:cNvPr id="24" name="Google Shape;2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Duplo" type="twoObj">
  <p:cSld name="TWO_OBJECTS">
    <p:spTree>
      <p:nvGrpSpPr>
        <p:cNvPr id="29" name="Shape 29"/>
        <p:cNvGrpSpPr/>
        <p:nvPr/>
      </p:nvGrpSpPr>
      <p:grpSpPr>
        <a:xfrm>
          <a:off x="0" y="0"/>
          <a:ext cx="0" cy="0"/>
          <a:chOff x="0" y="0"/>
          <a:chExt cx="0" cy="0"/>
        </a:xfrm>
      </p:grpSpPr>
      <p:sp>
        <p:nvSpPr>
          <p:cNvPr id="30" name="Google Shape;3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36" name="Shape 36"/>
        <p:cNvGrpSpPr/>
        <p:nvPr/>
      </p:nvGrpSpPr>
      <p:grpSpPr>
        <a:xfrm>
          <a:off x="0" y="0"/>
          <a:ext cx="0" cy="0"/>
          <a:chOff x="0" y="0"/>
          <a:chExt cx="0" cy="0"/>
        </a:xfrm>
      </p:grpSpPr>
      <p:sp>
        <p:nvSpPr>
          <p:cNvPr id="37" name="Google Shape;3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 título" type="titleOnly">
  <p:cSld name="TITLE_ONLY">
    <p:spTree>
      <p:nvGrpSpPr>
        <p:cNvPr id="45" name="Shape 45"/>
        <p:cNvGrpSpPr/>
        <p:nvPr/>
      </p:nvGrpSpPr>
      <p:grpSpPr>
        <a:xfrm>
          <a:off x="0" y="0"/>
          <a:ext cx="0" cy="0"/>
          <a:chOff x="0" y="0"/>
          <a:chExt cx="0" cy="0"/>
        </a:xfrm>
      </p:grpSpPr>
      <p:sp>
        <p:nvSpPr>
          <p:cNvPr id="46" name="Google Shape;4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0" name="Shape 50"/>
        <p:cNvGrpSpPr/>
        <p:nvPr/>
      </p:nvGrpSpPr>
      <p:grpSpPr>
        <a:xfrm>
          <a:off x="0" y="0"/>
          <a:ext cx="0" cy="0"/>
          <a:chOff x="0" y="0"/>
          <a:chExt cx="0" cy="0"/>
        </a:xfrm>
      </p:grpSpPr>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5183188" y="987425"/>
            <a:ext cx="6172200" cy="4873625"/>
          </a:xfrm>
          <a:prstGeom prst="rect">
            <a:avLst/>
          </a:prstGeom>
          <a:noFill/>
          <a:ln>
            <a:noFill/>
          </a:ln>
        </p:spPr>
      </p:sp>
      <p:sp>
        <p:nvSpPr>
          <p:cNvPr id="64" name="Google Shape;6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e texto"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P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55.png"/><Relationship Id="rId7" Type="http://schemas.openxmlformats.org/officeDocument/2006/relationships/image" Target="../media/image1.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55.png"/><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12.png"/></Relationships>
</file>

<file path=ppt/slides/_rels/slide11.xml.rels><?xml version="1.0" encoding="UTF-8" standalone="yes"?><Relationships xmlns="http://schemas.openxmlformats.org/package/2006/relationships"><Relationship Id="rId20" Type="http://schemas.openxmlformats.org/officeDocument/2006/relationships/image" Target="../media/image44.png"/><Relationship Id="rId22" Type="http://schemas.openxmlformats.org/officeDocument/2006/relationships/image" Target="../media/image23.png"/><Relationship Id="rId21" Type="http://schemas.openxmlformats.org/officeDocument/2006/relationships/image" Target="../media/image22.png"/><Relationship Id="rId24" Type="http://schemas.openxmlformats.org/officeDocument/2006/relationships/image" Target="../media/image1.png"/><Relationship Id="rId23"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3.png"/><Relationship Id="rId9" Type="http://schemas.openxmlformats.org/officeDocument/2006/relationships/image" Target="../media/image25.png"/><Relationship Id="rId26" Type="http://schemas.openxmlformats.org/officeDocument/2006/relationships/image" Target="../media/image30.png"/><Relationship Id="rId25" Type="http://schemas.openxmlformats.org/officeDocument/2006/relationships/image" Target="../media/image4.png"/><Relationship Id="rId27" Type="http://schemas.openxmlformats.org/officeDocument/2006/relationships/image" Target="../media/image40.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16.png"/><Relationship Id="rId8" Type="http://schemas.openxmlformats.org/officeDocument/2006/relationships/image" Target="../media/image43.png"/><Relationship Id="rId11" Type="http://schemas.openxmlformats.org/officeDocument/2006/relationships/image" Target="../media/image26.png"/><Relationship Id="rId10" Type="http://schemas.openxmlformats.org/officeDocument/2006/relationships/image" Target="../media/image14.png"/><Relationship Id="rId13" Type="http://schemas.openxmlformats.org/officeDocument/2006/relationships/image" Target="../media/image11.png"/><Relationship Id="rId12" Type="http://schemas.openxmlformats.org/officeDocument/2006/relationships/image" Target="../media/image15.png"/><Relationship Id="rId15" Type="http://schemas.openxmlformats.org/officeDocument/2006/relationships/image" Target="../media/image35.png"/><Relationship Id="rId14" Type="http://schemas.openxmlformats.org/officeDocument/2006/relationships/image" Target="../media/image18.png"/><Relationship Id="rId17" Type="http://schemas.openxmlformats.org/officeDocument/2006/relationships/image" Target="../media/image12.png"/><Relationship Id="rId16" Type="http://schemas.openxmlformats.org/officeDocument/2006/relationships/image" Target="../media/image17.png"/><Relationship Id="rId19" Type="http://schemas.openxmlformats.org/officeDocument/2006/relationships/image" Target="../media/image27.png"/><Relationship Id="rId18"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8.png"/><Relationship Id="rId9" Type="http://schemas.openxmlformats.org/officeDocument/2006/relationships/image" Target="../media/image32.png"/><Relationship Id="rId5" Type="http://schemas.openxmlformats.org/officeDocument/2006/relationships/image" Target="../media/image42.jpg"/><Relationship Id="rId6" Type="http://schemas.openxmlformats.org/officeDocument/2006/relationships/image" Target="../media/image46.jpg"/><Relationship Id="rId7" Type="http://schemas.openxmlformats.org/officeDocument/2006/relationships/image" Target="../media/image45.png"/><Relationship Id="rId8" Type="http://schemas.openxmlformats.org/officeDocument/2006/relationships/image" Target="../media/image36.png"/><Relationship Id="rId11" Type="http://schemas.openxmlformats.org/officeDocument/2006/relationships/image" Target="../media/image29.png"/><Relationship Id="rId10" Type="http://schemas.openxmlformats.org/officeDocument/2006/relationships/image" Target="../media/image17.png"/><Relationship Id="rId12"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7.png"/><Relationship Id="rId9" Type="http://schemas.openxmlformats.org/officeDocument/2006/relationships/image" Target="../media/image39.png"/><Relationship Id="rId5" Type="http://schemas.openxmlformats.org/officeDocument/2006/relationships/image" Target="../media/image33.png"/><Relationship Id="rId6" Type="http://schemas.openxmlformats.org/officeDocument/2006/relationships/image" Target="../media/image19.png"/><Relationship Id="rId7" Type="http://schemas.openxmlformats.org/officeDocument/2006/relationships/image" Target="../media/image21.png"/><Relationship Id="rId8" Type="http://schemas.openxmlformats.org/officeDocument/2006/relationships/image" Target="../media/image31.png"/><Relationship Id="rId11" Type="http://schemas.openxmlformats.org/officeDocument/2006/relationships/image" Target="../media/image37.png"/><Relationship Id="rId10" Type="http://schemas.openxmlformats.org/officeDocument/2006/relationships/image" Target="../media/image38.png"/><Relationship Id="rId13" Type="http://schemas.openxmlformats.org/officeDocument/2006/relationships/image" Target="../media/image50.jpg"/><Relationship Id="rId12" Type="http://schemas.openxmlformats.org/officeDocument/2006/relationships/image" Target="../media/image41.jpg"/><Relationship Id="rId15" Type="http://schemas.openxmlformats.org/officeDocument/2006/relationships/image" Target="../media/image52.jpg"/><Relationship Id="rId14" Type="http://schemas.openxmlformats.org/officeDocument/2006/relationships/image" Target="../media/image48.png"/><Relationship Id="rId16" Type="http://schemas.openxmlformats.org/officeDocument/2006/relationships/image" Target="../media/image5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1.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18.png"/><Relationship Id="rId7" Type="http://schemas.openxmlformats.org/officeDocument/2006/relationships/image" Target="../media/image35.png"/><Relationship Id="rId8"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pic>
        <p:nvPicPr>
          <p:cNvPr descr="Uma imagem com Gráficos, logótipo, design gráfico, Tipo de letra&#10;&#10;Descrição gerada automaticamente" id="84" name="Google Shape;84;p4"/>
          <p:cNvPicPr preferRelativeResize="0"/>
          <p:nvPr/>
        </p:nvPicPr>
        <p:blipFill rotWithShape="1">
          <a:blip r:embed="rId4">
            <a:alphaModFix/>
          </a:blip>
          <a:srcRect b="0" l="0" r="0" t="0"/>
          <a:stretch/>
        </p:blipFill>
        <p:spPr>
          <a:xfrm>
            <a:off x="5546173" y="2802642"/>
            <a:ext cx="1099662" cy="12527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pic>
        <p:nvPicPr>
          <p:cNvPr descr="Uma imagem com Gráficos, logótipo, design gráfico, Tipo de letra&#10;&#10;Descrição gerada automaticamente" id="89" name="Google Shape;89;p3"/>
          <p:cNvPicPr preferRelativeResize="0"/>
          <p:nvPr/>
        </p:nvPicPr>
        <p:blipFill rotWithShape="1">
          <a:blip r:embed="rId4">
            <a:alphaModFix/>
          </a:blip>
          <a:srcRect b="0" l="0" r="0" t="0"/>
          <a:stretch/>
        </p:blipFill>
        <p:spPr>
          <a:xfrm>
            <a:off x="900500" y="779901"/>
            <a:ext cx="1706050" cy="1937600"/>
          </a:xfrm>
          <a:prstGeom prst="rect">
            <a:avLst/>
          </a:prstGeom>
          <a:noFill/>
          <a:ln>
            <a:noFill/>
          </a:ln>
        </p:spPr>
      </p:pic>
      <p:pic>
        <p:nvPicPr>
          <p:cNvPr descr="Uma imagem com desenho, vestuário, ilustração&#10;&#10;Descrição gerada automaticamente" id="90" name="Google Shape;90;p3"/>
          <p:cNvPicPr preferRelativeResize="0"/>
          <p:nvPr/>
        </p:nvPicPr>
        <p:blipFill rotWithShape="1">
          <a:blip r:embed="rId5">
            <a:alphaModFix/>
          </a:blip>
          <a:srcRect b="0" l="0" r="0" t="0"/>
          <a:stretch/>
        </p:blipFill>
        <p:spPr>
          <a:xfrm>
            <a:off x="10191570" y="1889684"/>
            <a:ext cx="1884866" cy="2059960"/>
          </a:xfrm>
          <a:prstGeom prst="rect">
            <a:avLst/>
          </a:prstGeom>
          <a:noFill/>
          <a:ln>
            <a:noFill/>
          </a:ln>
        </p:spPr>
      </p:pic>
      <p:pic>
        <p:nvPicPr>
          <p:cNvPr descr="Uma imagem com texto, computador, captura de ecrã, multimédia&#10;&#10;Descrição gerada automaticamente" id="91" name="Google Shape;91;p3"/>
          <p:cNvPicPr preferRelativeResize="0"/>
          <p:nvPr/>
        </p:nvPicPr>
        <p:blipFill rotWithShape="1">
          <a:blip r:embed="rId6">
            <a:alphaModFix/>
          </a:blip>
          <a:srcRect b="2280" l="4428" r="16684" t="31237"/>
          <a:stretch/>
        </p:blipFill>
        <p:spPr>
          <a:xfrm>
            <a:off x="4076869" y="3507908"/>
            <a:ext cx="8116644" cy="3361317"/>
          </a:xfrm>
          <a:prstGeom prst="rect">
            <a:avLst/>
          </a:prstGeom>
          <a:noFill/>
          <a:ln>
            <a:noFill/>
          </a:ln>
        </p:spPr>
      </p:pic>
      <p:sp>
        <p:nvSpPr>
          <p:cNvPr id="92" name="Google Shape;92;p3"/>
          <p:cNvSpPr txBox="1"/>
          <p:nvPr/>
        </p:nvSpPr>
        <p:spPr>
          <a:xfrm>
            <a:off x="908586" y="6254085"/>
            <a:ext cx="2493487" cy="38057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E4005B"/>
              </a:buClr>
              <a:buSzPts val="1200"/>
              <a:buFont typeface="Play"/>
              <a:buNone/>
            </a:pPr>
            <a:r>
              <a:rPr b="1" i="0" lang="pt-PT" sz="1200" u="none" cap="none" strike="noStrike">
                <a:solidFill>
                  <a:srgbClr val="E4005B"/>
                </a:solidFill>
                <a:latin typeface="Play"/>
                <a:ea typeface="Play"/>
                <a:cs typeface="Play"/>
                <a:sym typeface="Play"/>
              </a:rPr>
              <a:t>www.umedicu.com</a:t>
            </a:r>
            <a:endParaRPr b="0" i="0" sz="5400" u="none" cap="none" strike="noStrike">
              <a:solidFill>
                <a:srgbClr val="E4005B"/>
              </a:solidFill>
              <a:latin typeface="Play"/>
              <a:ea typeface="Play"/>
              <a:cs typeface="Play"/>
              <a:sym typeface="Play"/>
            </a:endParaRPr>
          </a:p>
        </p:txBody>
      </p:sp>
      <p:sp>
        <p:nvSpPr>
          <p:cNvPr id="93" name="Google Shape;9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PT"/>
              <a:t>‹#›</a:t>
            </a:fld>
            <a:endParaRPr/>
          </a:p>
        </p:txBody>
      </p:sp>
      <p:sp>
        <p:nvSpPr>
          <p:cNvPr id="94" name="Google Shape;94;p3"/>
          <p:cNvSpPr/>
          <p:nvPr/>
        </p:nvSpPr>
        <p:spPr>
          <a:xfrm>
            <a:off x="908587" y="5047249"/>
            <a:ext cx="2493600" cy="1206900"/>
          </a:xfrm>
          <a:prstGeom prst="roundRect">
            <a:avLst>
              <a:gd fmla="val 16667" name="adj"/>
            </a:avLst>
          </a:prstGeom>
          <a:solidFill>
            <a:srgbClr val="FFFFFF">
              <a:alpha val="5569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5" name="Google Shape;95;p3"/>
          <p:cNvSpPr txBox="1"/>
          <p:nvPr/>
        </p:nvSpPr>
        <p:spPr>
          <a:xfrm>
            <a:off x="1516443" y="5216847"/>
            <a:ext cx="1785834" cy="36271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E7370"/>
              </a:buClr>
              <a:buSzPts val="1200"/>
              <a:buFont typeface="Nunito"/>
              <a:buNone/>
            </a:pPr>
            <a:r>
              <a:rPr b="0" i="0" lang="pt-PT" sz="1200" u="none" cap="none" strike="noStrike">
                <a:solidFill>
                  <a:srgbClr val="5E7370"/>
                </a:solidFill>
                <a:latin typeface="Nunito"/>
                <a:ea typeface="Nunito"/>
                <a:cs typeface="Nunito"/>
                <a:sym typeface="Nunito"/>
              </a:rPr>
              <a:t>+351</a:t>
            </a:r>
            <a:r>
              <a:rPr b="1" i="0" lang="pt-PT" sz="1200" u="none" cap="none" strike="noStrike">
                <a:solidFill>
                  <a:srgbClr val="2F3F3D"/>
                </a:solidFill>
                <a:latin typeface="Nunito"/>
                <a:ea typeface="Nunito"/>
                <a:cs typeface="Nunito"/>
                <a:sym typeface="Nunito"/>
              </a:rPr>
              <a:t> 912 912 912</a:t>
            </a:r>
            <a:endParaRPr/>
          </a:p>
        </p:txBody>
      </p:sp>
      <p:sp>
        <p:nvSpPr>
          <p:cNvPr id="96" name="Google Shape;96;p3"/>
          <p:cNvSpPr txBox="1"/>
          <p:nvPr/>
        </p:nvSpPr>
        <p:spPr>
          <a:xfrm>
            <a:off x="1507382" y="5701443"/>
            <a:ext cx="1894692" cy="40936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200"/>
              <a:buFont typeface="Nunito"/>
              <a:buNone/>
            </a:pPr>
            <a:r>
              <a:rPr b="1" i="0" lang="pt-PT" sz="1200" u="none" cap="none" strike="noStrike">
                <a:solidFill>
                  <a:srgbClr val="2F3F3D"/>
                </a:solidFill>
                <a:latin typeface="Nunito"/>
                <a:ea typeface="Nunito"/>
                <a:cs typeface="Nunito"/>
                <a:sym typeface="Nunito"/>
              </a:rPr>
              <a:t>geral@umedicu.com</a:t>
            </a:r>
            <a:endParaRPr b="0" i="0" sz="1200" u="none" cap="none" strike="noStrike">
              <a:solidFill>
                <a:srgbClr val="2F3F3D"/>
              </a:solidFill>
              <a:latin typeface="Nunito"/>
              <a:ea typeface="Nunito"/>
              <a:cs typeface="Nunito"/>
              <a:sym typeface="Nunito"/>
            </a:endParaRPr>
          </a:p>
        </p:txBody>
      </p:sp>
      <p:pic>
        <p:nvPicPr>
          <p:cNvPr id="97" name="Google Shape;97;p3"/>
          <p:cNvPicPr preferRelativeResize="0"/>
          <p:nvPr/>
        </p:nvPicPr>
        <p:blipFill rotWithShape="1">
          <a:blip r:embed="rId7">
            <a:alphaModFix/>
          </a:blip>
          <a:srcRect b="0" l="0" r="0" t="0"/>
          <a:stretch/>
        </p:blipFill>
        <p:spPr>
          <a:xfrm>
            <a:off x="1168721" y="5205606"/>
            <a:ext cx="338661" cy="335841"/>
          </a:xfrm>
          <a:prstGeom prst="rect">
            <a:avLst/>
          </a:prstGeom>
          <a:noFill/>
          <a:ln>
            <a:noFill/>
          </a:ln>
        </p:spPr>
      </p:pic>
      <p:pic>
        <p:nvPicPr>
          <p:cNvPr id="98" name="Google Shape;98;p3"/>
          <p:cNvPicPr preferRelativeResize="0"/>
          <p:nvPr/>
        </p:nvPicPr>
        <p:blipFill rotWithShape="1">
          <a:blip r:embed="rId8">
            <a:alphaModFix/>
          </a:blip>
          <a:srcRect b="0" l="0" r="0" t="0"/>
          <a:stretch/>
        </p:blipFill>
        <p:spPr>
          <a:xfrm>
            <a:off x="1132265" y="5748917"/>
            <a:ext cx="330456" cy="327636"/>
          </a:xfrm>
          <a:prstGeom prst="rect">
            <a:avLst/>
          </a:prstGeom>
          <a:noFill/>
          <a:ln>
            <a:noFill/>
          </a:ln>
        </p:spPr>
      </p:pic>
      <p:sp>
        <p:nvSpPr>
          <p:cNvPr id="99" name="Google Shape;99;p3"/>
          <p:cNvSpPr txBox="1"/>
          <p:nvPr>
            <p:ph type="ctrTitle"/>
          </p:nvPr>
        </p:nvSpPr>
        <p:spPr>
          <a:xfrm>
            <a:off x="809232" y="3083554"/>
            <a:ext cx="5044200" cy="49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3200"/>
              <a:buFont typeface="Nunito"/>
              <a:buNone/>
            </a:pPr>
            <a:r>
              <a:rPr b="1" lang="pt-PT" sz="3500">
                <a:solidFill>
                  <a:srgbClr val="2F3F3D"/>
                </a:solidFill>
                <a:latin typeface="Nunito"/>
                <a:ea typeface="Nunito"/>
                <a:cs typeface="Nunito"/>
                <a:sym typeface="Nunito"/>
              </a:rPr>
              <a:t>Pitch informativo</a:t>
            </a:r>
            <a:endParaRPr b="1" sz="3500">
              <a:solidFill>
                <a:srgbClr val="2F3F3D"/>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g2fdba227523_0_15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PT"/>
              <a:t>‹#›</a:t>
            </a:fld>
            <a:endParaRPr/>
          </a:p>
        </p:txBody>
      </p:sp>
      <p:sp>
        <p:nvSpPr>
          <p:cNvPr id="105" name="Google Shape;105;g2fdba227523_0_151"/>
          <p:cNvSpPr txBox="1"/>
          <p:nvPr>
            <p:ph type="ctrTitle"/>
          </p:nvPr>
        </p:nvSpPr>
        <p:spPr>
          <a:xfrm>
            <a:off x="1300680" y="674500"/>
            <a:ext cx="28368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Uma app,</a:t>
            </a:r>
            <a:endParaRPr b="1" sz="1800">
              <a:solidFill>
                <a:srgbClr val="2F3F3D"/>
              </a:solidFill>
              <a:latin typeface="Nunito"/>
              <a:ea typeface="Nunito"/>
              <a:cs typeface="Nunito"/>
              <a:sym typeface="Nunito"/>
            </a:endParaRPr>
          </a:p>
          <a:p>
            <a:pPr indent="0" lvl="0" marL="0" rtl="0" algn="l">
              <a:spcBef>
                <a:spcPts val="0"/>
              </a:spcBef>
              <a:spcAft>
                <a:spcPts val="0"/>
              </a:spcAft>
              <a:buClr>
                <a:srgbClr val="5E7370"/>
              </a:buClr>
              <a:buSzPts val="1400"/>
              <a:buFont typeface="Nunito"/>
              <a:buNone/>
            </a:pPr>
            <a:r>
              <a:rPr lang="pt-PT" sz="1400">
                <a:solidFill>
                  <a:srgbClr val="5E7370"/>
                </a:solidFill>
                <a:latin typeface="Nunito"/>
                <a:ea typeface="Nunito"/>
                <a:cs typeface="Nunito"/>
                <a:sym typeface="Nunito"/>
              </a:rPr>
              <a:t>Toda a sua saúde</a:t>
            </a:r>
            <a:endParaRPr sz="1400">
              <a:latin typeface="Arial"/>
              <a:ea typeface="Arial"/>
              <a:cs typeface="Arial"/>
              <a:sym typeface="Arial"/>
            </a:endParaRPr>
          </a:p>
          <a:p>
            <a:pPr indent="0" lvl="0" marL="0" rtl="0" algn="l">
              <a:lnSpc>
                <a:spcPct val="90000"/>
              </a:lnSpc>
              <a:spcBef>
                <a:spcPts val="0"/>
              </a:spcBef>
              <a:spcAft>
                <a:spcPts val="0"/>
              </a:spcAft>
              <a:buClr>
                <a:srgbClr val="2F3F3D"/>
              </a:buClr>
              <a:buSzPts val="1800"/>
              <a:buFont typeface="Nunito"/>
              <a:buNone/>
            </a:pPr>
            <a:r>
              <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06" name="Google Shape;106;g2fdba227523_0_151"/>
          <p:cNvPicPr preferRelativeResize="0"/>
          <p:nvPr/>
        </p:nvPicPr>
        <p:blipFill rotWithShape="1">
          <a:blip r:embed="rId4">
            <a:alphaModFix/>
          </a:blip>
          <a:srcRect b="22330" l="0" r="0" t="0"/>
          <a:stretch/>
        </p:blipFill>
        <p:spPr>
          <a:xfrm>
            <a:off x="582025" y="674490"/>
            <a:ext cx="718650" cy="640075"/>
          </a:xfrm>
          <a:prstGeom prst="rect">
            <a:avLst/>
          </a:prstGeom>
          <a:noFill/>
          <a:ln>
            <a:noFill/>
          </a:ln>
        </p:spPr>
      </p:pic>
      <p:sp>
        <p:nvSpPr>
          <p:cNvPr id="107" name="Google Shape;107;g2fdba227523_0_151"/>
          <p:cNvSpPr txBox="1"/>
          <p:nvPr/>
        </p:nvSpPr>
        <p:spPr>
          <a:xfrm>
            <a:off x="925213" y="2190538"/>
            <a:ext cx="4886100" cy="37464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pt-PT" sz="1300">
                <a:solidFill>
                  <a:schemeClr val="dk1"/>
                </a:solidFill>
                <a:latin typeface="Nunito"/>
                <a:ea typeface="Nunito"/>
                <a:cs typeface="Nunito"/>
                <a:sym typeface="Nunito"/>
              </a:rPr>
              <a:t>Atualmente, esses dados estão geralmente vinculados à entidade que os fornece. Por exemplo, quando se consulta um médico numa instituição privada, essa informação só fica disponível nas plataformas dessa instituição (como a CUF). Da mesma forma, quando realizamos um exame no Hospital da Luz, tanto o registo do exame, como os resultados surgem apenas na aplicação do Hospital da Luz. Quando uma pessoa recebe cuidados de saúde de vários prestadores diferentes, o problema torna-se ainda mais complexo, especialmente tendo em conta que existem prestadores que não oferecem um ponto central para acesso a este tipo de informações. Por isto, surgiu a necessidade de desenvolver uma entidade que consolide e agregue todas essas informações.</a:t>
            </a:r>
            <a:endParaRPr sz="2600">
              <a:solidFill>
                <a:schemeClr val="dk1"/>
              </a:solidFill>
              <a:latin typeface="Nunito"/>
              <a:ea typeface="Nunito"/>
              <a:cs typeface="Nunito"/>
              <a:sym typeface="Nunito"/>
            </a:endParaRPr>
          </a:p>
        </p:txBody>
      </p:sp>
      <p:sp>
        <p:nvSpPr>
          <p:cNvPr id="108" name="Google Shape;108;g2fdba227523_0_151"/>
          <p:cNvSpPr txBox="1"/>
          <p:nvPr/>
        </p:nvSpPr>
        <p:spPr>
          <a:xfrm>
            <a:off x="925213" y="1656913"/>
            <a:ext cx="488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PT" sz="1300">
                <a:solidFill>
                  <a:schemeClr val="dk1"/>
                </a:solidFill>
                <a:latin typeface="Nunito"/>
                <a:ea typeface="Nunito"/>
                <a:cs typeface="Nunito"/>
                <a:sym typeface="Nunito"/>
              </a:rPr>
              <a:t>U</a:t>
            </a:r>
            <a:r>
              <a:rPr b="1" lang="pt-PT" sz="1300">
                <a:solidFill>
                  <a:schemeClr val="dk1"/>
                </a:solidFill>
                <a:latin typeface="Nunito"/>
                <a:ea typeface="Nunito"/>
                <a:cs typeface="Nunito"/>
                <a:sym typeface="Nunito"/>
              </a:rPr>
              <a:t>m problema evidente relacionado com os dados de saúde</a:t>
            </a:r>
            <a:endParaRPr b="1" sz="1300">
              <a:latin typeface="Nunito"/>
              <a:ea typeface="Nunito"/>
              <a:cs typeface="Nunito"/>
              <a:sym typeface="Nunito"/>
            </a:endParaRPr>
          </a:p>
        </p:txBody>
      </p:sp>
      <p:sp>
        <p:nvSpPr>
          <p:cNvPr id="109" name="Google Shape;109;g2fdba227523_0_151"/>
          <p:cNvSpPr txBox="1"/>
          <p:nvPr/>
        </p:nvSpPr>
        <p:spPr>
          <a:xfrm>
            <a:off x="6303300" y="1349938"/>
            <a:ext cx="4886100" cy="4587000"/>
          </a:xfrm>
          <a:prstGeom prst="rect">
            <a:avLst/>
          </a:prstGeom>
          <a:noFill/>
          <a:ln>
            <a:noFill/>
          </a:ln>
        </p:spPr>
        <p:txBody>
          <a:bodyPr anchorCtr="0" anchor="t" bIns="91425" lIns="91425" spcFirstLastPara="1" rIns="91425" wrap="square" tIns="91425">
            <a:spAutoFit/>
          </a:bodyPr>
          <a:lstStyle/>
          <a:p>
            <a:pPr indent="0" lvl="0" marL="0" rtl="0" algn="just">
              <a:lnSpc>
                <a:spcPct val="140000"/>
              </a:lnSpc>
              <a:spcBef>
                <a:spcPts val="0"/>
              </a:spcBef>
              <a:spcAft>
                <a:spcPts val="0"/>
              </a:spcAft>
              <a:buNone/>
            </a:pPr>
            <a:r>
              <a:rPr lang="pt-PT" sz="1300">
                <a:solidFill>
                  <a:schemeClr val="dk1"/>
                </a:solidFill>
                <a:latin typeface="Nunito"/>
                <a:ea typeface="Nunito"/>
                <a:cs typeface="Nunito"/>
                <a:sym typeface="Nunito"/>
              </a:rPr>
              <a:t>A plataforma da Umedicu tem então como objetivo permitir ao utilizador a criação de um perfil único de saúde, centrado no paciente. Através de uma ferramenta de partilha direta de todo o historial do paciente com o prestador, médicos, enfermeiros, fisioterapeutas ou qualquer outro prestador poderão oferecer cuidados mais informados e individualizados.</a:t>
            </a:r>
            <a:endParaRPr sz="1300">
              <a:solidFill>
                <a:schemeClr val="dk1"/>
              </a:solidFill>
              <a:latin typeface="Nunito"/>
              <a:ea typeface="Nunito"/>
              <a:cs typeface="Nunito"/>
              <a:sym typeface="Nunito"/>
            </a:endParaRPr>
          </a:p>
          <a:p>
            <a:pPr indent="0" lvl="0" marL="0" rtl="0" algn="just">
              <a:lnSpc>
                <a:spcPct val="140000"/>
              </a:lnSpc>
              <a:spcBef>
                <a:spcPts val="0"/>
              </a:spcBef>
              <a:spcAft>
                <a:spcPts val="0"/>
              </a:spcAft>
              <a:buNone/>
            </a:pPr>
            <a:r>
              <a:rPr lang="pt-PT" sz="1300">
                <a:solidFill>
                  <a:schemeClr val="dk1"/>
                </a:solidFill>
                <a:latin typeface="Nunito"/>
                <a:ea typeface="Nunito"/>
                <a:cs typeface="Nunito"/>
                <a:sym typeface="Nunito"/>
              </a:rPr>
              <a:t>Desta forma, também os profissionais de saúde podem beneficiar desta agregação de informação.</a:t>
            </a:r>
            <a:endParaRPr sz="1300">
              <a:solidFill>
                <a:schemeClr val="dk1"/>
              </a:solidFill>
              <a:latin typeface="Nunito"/>
              <a:ea typeface="Nunito"/>
              <a:cs typeface="Nunito"/>
              <a:sym typeface="Nunito"/>
            </a:endParaRPr>
          </a:p>
          <a:p>
            <a:pPr indent="0" lvl="0" marL="0" rtl="0" algn="just">
              <a:lnSpc>
                <a:spcPct val="140000"/>
              </a:lnSpc>
              <a:spcBef>
                <a:spcPts val="0"/>
              </a:spcBef>
              <a:spcAft>
                <a:spcPts val="0"/>
              </a:spcAft>
              <a:buNone/>
            </a:pPr>
            <a:r>
              <a:rPr lang="pt-PT" sz="1300">
                <a:solidFill>
                  <a:schemeClr val="dk1"/>
                </a:solidFill>
                <a:latin typeface="Nunito"/>
                <a:ea typeface="Nunito"/>
                <a:cs typeface="Nunito"/>
                <a:sym typeface="Nunito"/>
              </a:rPr>
              <a:t>Para isso pretendemos desenvolver protocolos de comunicação com o maior número possível de prestadores de cuidados de saúde, de forma a que, após realizar qualquer ato relacionado com a saúde, o utilizador tenha acesso à informação inerente a esse mesmo ato de forma simples e rápida.  </a:t>
            </a:r>
            <a:endParaRPr sz="1300">
              <a:solidFill>
                <a:schemeClr val="dk1"/>
              </a:solidFill>
              <a:latin typeface="Nunito"/>
              <a:ea typeface="Nunito"/>
              <a:cs typeface="Nunito"/>
              <a:sym typeface="Nunito"/>
            </a:endParaRPr>
          </a:p>
          <a:p>
            <a:pPr indent="0" lvl="0" marL="0" rtl="0" algn="just">
              <a:lnSpc>
                <a:spcPct val="140000"/>
              </a:lnSpc>
              <a:spcBef>
                <a:spcPts val="0"/>
              </a:spcBef>
              <a:spcAft>
                <a:spcPts val="0"/>
              </a:spcAft>
              <a:buNone/>
            </a:pPr>
            <a:r>
              <a:rPr lang="pt-PT" sz="1300">
                <a:solidFill>
                  <a:schemeClr val="dk1"/>
                </a:solidFill>
                <a:latin typeface="Nunito"/>
                <a:ea typeface="Nunito"/>
                <a:cs typeface="Nunito"/>
                <a:sym typeface="Nunito"/>
              </a:rPr>
              <a:t>Esta funcionalidade será gratuita para todos os utilizadores e fará parte da primeira versão da aplicação que estamos a desenvolver.</a:t>
            </a:r>
            <a:endParaRPr sz="1300">
              <a:solidFill>
                <a:schemeClr val="dk1"/>
              </a:solidFill>
              <a:latin typeface="Nunito"/>
              <a:ea typeface="Nunito"/>
              <a:cs typeface="Nunito"/>
              <a:sym typeface="Nunito"/>
            </a:endParaRPr>
          </a:p>
        </p:txBody>
      </p:sp>
      <p:sp>
        <p:nvSpPr>
          <p:cNvPr id="110" name="Google Shape;110;g2fdba227523_0_151"/>
          <p:cNvSpPr txBox="1"/>
          <p:nvPr/>
        </p:nvSpPr>
        <p:spPr>
          <a:xfrm>
            <a:off x="6303288" y="808850"/>
            <a:ext cx="4886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PT" sz="1300">
                <a:solidFill>
                  <a:schemeClr val="dk1"/>
                </a:solidFill>
                <a:latin typeface="Nunito"/>
                <a:ea typeface="Nunito"/>
                <a:cs typeface="Nunito"/>
                <a:sym typeface="Nunito"/>
              </a:rPr>
              <a:t>Uma solução cómoda e centralizada</a:t>
            </a:r>
            <a:endParaRPr b="1" sz="1300">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g2fdba227523_0_17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PT"/>
              <a:t>‹#›</a:t>
            </a:fld>
            <a:endParaRPr/>
          </a:p>
        </p:txBody>
      </p:sp>
      <p:sp>
        <p:nvSpPr>
          <p:cNvPr id="116" name="Google Shape;116;g2fdba227523_0_171"/>
          <p:cNvSpPr txBox="1"/>
          <p:nvPr>
            <p:ph type="ctrTitle"/>
          </p:nvPr>
        </p:nvSpPr>
        <p:spPr>
          <a:xfrm>
            <a:off x="1300683" y="674511"/>
            <a:ext cx="7989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Uma app,</a:t>
            </a:r>
            <a:endParaRPr b="1" sz="1800">
              <a:solidFill>
                <a:srgbClr val="2F3F3D"/>
              </a:solidFill>
              <a:latin typeface="Nunito"/>
              <a:ea typeface="Nunito"/>
              <a:cs typeface="Nunito"/>
              <a:sym typeface="Nunito"/>
            </a:endParaRPr>
          </a:p>
          <a:p>
            <a:pPr indent="0" lvl="0" marL="0" rtl="0" algn="l">
              <a:spcBef>
                <a:spcPts val="0"/>
              </a:spcBef>
              <a:spcAft>
                <a:spcPts val="0"/>
              </a:spcAft>
              <a:buClr>
                <a:srgbClr val="5E7370"/>
              </a:buClr>
              <a:buSzPts val="1400"/>
              <a:buFont typeface="Nunito"/>
              <a:buNone/>
            </a:pPr>
            <a:r>
              <a:rPr lang="pt-PT" sz="1400">
                <a:solidFill>
                  <a:srgbClr val="5E7370"/>
                </a:solidFill>
                <a:latin typeface="Nunito"/>
                <a:ea typeface="Nunito"/>
                <a:cs typeface="Nunito"/>
                <a:sym typeface="Nunito"/>
              </a:rPr>
              <a:t>Toda a sua saúde</a:t>
            </a:r>
            <a:endParaRPr sz="1400">
              <a:latin typeface="Arial"/>
              <a:ea typeface="Arial"/>
              <a:cs typeface="Arial"/>
              <a:sym typeface="Arial"/>
            </a:endParaRPr>
          </a:p>
          <a:p>
            <a:pPr indent="0" lvl="0" marL="0" rtl="0" algn="l">
              <a:lnSpc>
                <a:spcPct val="90000"/>
              </a:lnSpc>
              <a:spcBef>
                <a:spcPts val="0"/>
              </a:spcBef>
              <a:spcAft>
                <a:spcPts val="0"/>
              </a:spcAft>
              <a:buClr>
                <a:srgbClr val="2F3F3D"/>
              </a:buClr>
              <a:buSzPts val="1800"/>
              <a:buFont typeface="Nunito"/>
              <a:buNone/>
            </a:pPr>
            <a:r>
              <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17" name="Google Shape;117;g2fdba227523_0_171"/>
          <p:cNvPicPr preferRelativeResize="0"/>
          <p:nvPr/>
        </p:nvPicPr>
        <p:blipFill rotWithShape="1">
          <a:blip r:embed="rId4">
            <a:alphaModFix/>
          </a:blip>
          <a:srcRect b="22330" l="0" r="0" t="0"/>
          <a:stretch/>
        </p:blipFill>
        <p:spPr>
          <a:xfrm>
            <a:off x="582025" y="674490"/>
            <a:ext cx="718650" cy="640075"/>
          </a:xfrm>
          <a:prstGeom prst="rect">
            <a:avLst/>
          </a:prstGeom>
          <a:noFill/>
          <a:ln>
            <a:noFill/>
          </a:ln>
        </p:spPr>
      </p:pic>
      <p:sp>
        <p:nvSpPr>
          <p:cNvPr id="118" name="Google Shape;118;g2fdba227523_0_171"/>
          <p:cNvSpPr txBox="1"/>
          <p:nvPr/>
        </p:nvSpPr>
        <p:spPr>
          <a:xfrm>
            <a:off x="863913" y="1982888"/>
            <a:ext cx="4886100" cy="4170300"/>
          </a:xfrm>
          <a:prstGeom prst="rect">
            <a:avLst/>
          </a:prstGeom>
          <a:noFill/>
          <a:ln>
            <a:noFill/>
          </a:ln>
        </p:spPr>
        <p:txBody>
          <a:bodyPr anchorCtr="0" anchor="t" bIns="45700" lIns="91425" spcFirstLastPara="1" rIns="91425" wrap="square" tIns="45700">
            <a:noAutofit/>
          </a:bodyPr>
          <a:lstStyle/>
          <a:p>
            <a:pPr indent="0" lvl="0" marL="0" rtl="0" algn="just">
              <a:lnSpc>
                <a:spcPct val="140000"/>
              </a:lnSpc>
              <a:spcBef>
                <a:spcPts val="0"/>
              </a:spcBef>
              <a:spcAft>
                <a:spcPts val="0"/>
              </a:spcAft>
              <a:buClr>
                <a:schemeClr val="dk1"/>
              </a:buClr>
              <a:buSzPts val="1100"/>
              <a:buFont typeface="Arial"/>
              <a:buNone/>
            </a:pPr>
            <a:r>
              <a:rPr lang="pt-PT" sz="1300">
                <a:solidFill>
                  <a:schemeClr val="dk1"/>
                </a:solidFill>
                <a:latin typeface="Nunito"/>
                <a:ea typeface="Nunito"/>
                <a:cs typeface="Nunito"/>
                <a:sym typeface="Nunito"/>
              </a:rPr>
              <a:t>Hoje em dia, a forma como acedemos aos cuidados em saúde é consideravelmente  antiquada em comparação com outros mercados. Tenhamos como exemplo a hotelaria, em que existem várias plataformas onde podemos não só comparar mas também adquirir serviços, ou a área da restauração onde existem outras tantas plataformas para pesquisa e reservas de mesas em restaurantes. Se virmos com atenção, a forma como acedemos e pesquisamos por cuidados (principalmente os de prestação privada) ainda depende fortemente do marketing tradicional (anúncios de tv, rua etc) ou da recomendação. Além disso, apenas os grupos e clínicas com maior relevância no mercado têm capacidade para desenvolver campanhas de marketing que impactem o seu negócio, deixando um buraco por preencher para grupos mais pequenos ou mesmo prestadores de cuidados a título individual.</a:t>
            </a:r>
            <a:endParaRPr i="0" u="none" cap="none" strike="noStrike">
              <a:solidFill>
                <a:schemeClr val="dk1"/>
              </a:solidFill>
              <a:latin typeface="Nunito"/>
              <a:ea typeface="Nunito"/>
              <a:cs typeface="Nunito"/>
              <a:sym typeface="Nunito"/>
            </a:endParaRPr>
          </a:p>
        </p:txBody>
      </p:sp>
      <p:sp>
        <p:nvSpPr>
          <p:cNvPr id="119" name="Google Shape;119;g2fdba227523_0_171"/>
          <p:cNvSpPr txBox="1"/>
          <p:nvPr/>
        </p:nvSpPr>
        <p:spPr>
          <a:xfrm>
            <a:off x="863913" y="1441813"/>
            <a:ext cx="4886100" cy="384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pt-PT" sz="1300">
                <a:solidFill>
                  <a:schemeClr val="dk1"/>
                </a:solidFill>
                <a:latin typeface="Nunito"/>
                <a:ea typeface="Nunito"/>
                <a:cs typeface="Nunito"/>
                <a:sym typeface="Nunito"/>
              </a:rPr>
              <a:t>A problemática no acesso aos cuidados de saúde </a:t>
            </a:r>
            <a:endParaRPr b="1">
              <a:latin typeface="Nunito"/>
              <a:ea typeface="Nunito"/>
              <a:cs typeface="Nunito"/>
              <a:sym typeface="Nunito"/>
            </a:endParaRPr>
          </a:p>
        </p:txBody>
      </p:sp>
      <p:sp>
        <p:nvSpPr>
          <p:cNvPr id="120" name="Google Shape;120;g2fdba227523_0_171"/>
          <p:cNvSpPr txBox="1"/>
          <p:nvPr/>
        </p:nvSpPr>
        <p:spPr>
          <a:xfrm>
            <a:off x="6187375" y="815100"/>
            <a:ext cx="5276400" cy="5805900"/>
          </a:xfrm>
          <a:prstGeom prst="rect">
            <a:avLst/>
          </a:prstGeom>
          <a:noFill/>
          <a:ln>
            <a:noFill/>
          </a:ln>
        </p:spPr>
        <p:txBody>
          <a:bodyPr anchorCtr="0" anchor="t" bIns="91425" lIns="91425" spcFirstLastPara="1" rIns="91425" wrap="square" tIns="91425">
            <a:spAutoFit/>
          </a:bodyPr>
          <a:lstStyle/>
          <a:p>
            <a:pPr indent="0" lvl="0" marL="0" rtl="0" algn="just">
              <a:lnSpc>
                <a:spcPct val="140000"/>
              </a:lnSpc>
              <a:spcBef>
                <a:spcPts val="0"/>
              </a:spcBef>
              <a:spcAft>
                <a:spcPts val="0"/>
              </a:spcAft>
              <a:buNone/>
            </a:pPr>
            <a:r>
              <a:rPr lang="pt-PT" sz="1100">
                <a:solidFill>
                  <a:schemeClr val="dk1"/>
                </a:solidFill>
                <a:latin typeface="Nunito"/>
                <a:ea typeface="Nunito"/>
                <a:cs typeface="Nunito"/>
                <a:sym typeface="Nunito"/>
              </a:rPr>
              <a:t>A</a:t>
            </a:r>
            <a:r>
              <a:rPr lang="pt-PT" sz="1100">
                <a:solidFill>
                  <a:schemeClr val="dk1"/>
                </a:solidFill>
                <a:latin typeface="Nunito"/>
                <a:ea typeface="Nunito"/>
                <a:cs typeface="Nunito"/>
                <a:sym typeface="Nunito"/>
              </a:rPr>
              <a:t> forma de como acedemos aos cuidados em saúde é consideravelmente  antiquada em comparação com outros mercados. Tenhamos como exemplo a hotelaria, em que existem várias plataformas onde podemos não só comparar mas também adquirir serviços, ou a área da restauração onde existem plataformas para pesquisa e reservas de mesas em restaurantes. Se virmos com atenção, a forma como acedemos e pesquisamos por cuidados (principalmente os de prestação privada) ainda depende fortemente do marketing tradicional ou da recomendação. Além disso, apenas os grupos e clínicas com maior relevância no mercado têm capacidade para desenvolver campanhas de marketing que impactem o seu negócio, deixando um buraco por preencher para grupos mais pequenos ou mesmo prestadores de cuidados a título individual. A Umedicu desenvolveu uma plataforma com as seguintes ferramentas que pretendem combater este problema e outros que derivam do mesmo:</a:t>
            </a:r>
            <a:endParaRPr sz="1100">
              <a:solidFill>
                <a:schemeClr val="dk1"/>
              </a:solidFill>
              <a:latin typeface="Nunito"/>
              <a:ea typeface="Nunito"/>
              <a:cs typeface="Nunito"/>
              <a:sym typeface="Nunito"/>
            </a:endParaRPr>
          </a:p>
          <a:p>
            <a:pPr indent="0" lvl="0" marL="0" rtl="0" algn="just">
              <a:lnSpc>
                <a:spcPct val="140000"/>
              </a:lnSpc>
              <a:spcBef>
                <a:spcPts val="0"/>
              </a:spcBef>
              <a:spcAft>
                <a:spcPts val="0"/>
              </a:spcAft>
              <a:buNone/>
            </a:pPr>
            <a:r>
              <a:rPr lang="pt-PT" sz="1100">
                <a:solidFill>
                  <a:schemeClr val="dk1"/>
                </a:solidFill>
                <a:latin typeface="Nunito"/>
                <a:ea typeface="Nunito"/>
                <a:cs typeface="Nunito"/>
                <a:sym typeface="Nunito"/>
              </a:rPr>
              <a:t>-Um marketplace que permite a qualquer prestador de cuidados de saúde partilhar os seus serviços e disponibilidade, facilitando o acesso à informação e marcação de consultas (que pode ser sincronizado com outras ferramentas como google calendar) a todos os utilizadores da app;</a:t>
            </a:r>
            <a:endParaRPr sz="1100">
              <a:solidFill>
                <a:schemeClr val="dk1"/>
              </a:solidFill>
              <a:latin typeface="Nunito"/>
              <a:ea typeface="Nunito"/>
              <a:cs typeface="Nunito"/>
              <a:sym typeface="Nunito"/>
            </a:endParaRPr>
          </a:p>
          <a:p>
            <a:pPr indent="0" lvl="0" marL="0" rtl="0" algn="just">
              <a:lnSpc>
                <a:spcPct val="140000"/>
              </a:lnSpc>
              <a:spcBef>
                <a:spcPts val="0"/>
              </a:spcBef>
              <a:spcAft>
                <a:spcPts val="0"/>
              </a:spcAft>
              <a:buNone/>
            </a:pPr>
            <a:r>
              <a:rPr lang="pt-PT" sz="1100">
                <a:solidFill>
                  <a:schemeClr val="dk1"/>
                </a:solidFill>
                <a:latin typeface="Nunito"/>
                <a:ea typeface="Nunito"/>
                <a:cs typeface="Nunito"/>
                <a:sym typeface="Nunito"/>
              </a:rPr>
              <a:t>-Um mecanismo de comunicação de vagas de última hora que permite que o utilizador fique em lista de espera e seja avisado automaticamente no momento em que uma vaga fica disponível;</a:t>
            </a:r>
            <a:endParaRPr sz="1100">
              <a:solidFill>
                <a:schemeClr val="dk1"/>
              </a:solidFill>
              <a:latin typeface="Nunito"/>
              <a:ea typeface="Nunito"/>
              <a:cs typeface="Nunito"/>
              <a:sym typeface="Nunito"/>
            </a:endParaRPr>
          </a:p>
          <a:p>
            <a:pPr indent="0" lvl="0" marL="0" rtl="0" algn="just">
              <a:lnSpc>
                <a:spcPct val="140000"/>
              </a:lnSpc>
              <a:spcBef>
                <a:spcPts val="0"/>
              </a:spcBef>
              <a:spcAft>
                <a:spcPts val="0"/>
              </a:spcAft>
              <a:buNone/>
            </a:pPr>
            <a:r>
              <a:rPr lang="pt-PT" sz="1100">
                <a:solidFill>
                  <a:schemeClr val="dk1"/>
                </a:solidFill>
                <a:latin typeface="Nunito"/>
                <a:ea typeface="Nunito"/>
                <a:cs typeface="Nunito"/>
                <a:sym typeface="Nunito"/>
              </a:rPr>
              <a:t>-Um método de comunicação direta entre prestador e utente que possibilita a confirmação e cancelamento de marcações;</a:t>
            </a:r>
            <a:endParaRPr sz="1100">
              <a:solidFill>
                <a:schemeClr val="dk1"/>
              </a:solidFill>
              <a:latin typeface="Nunito"/>
              <a:ea typeface="Nunito"/>
              <a:cs typeface="Nunito"/>
              <a:sym typeface="Nunito"/>
            </a:endParaRPr>
          </a:p>
          <a:p>
            <a:pPr indent="0" lvl="0" marL="0" rtl="0" algn="just">
              <a:lnSpc>
                <a:spcPct val="140000"/>
              </a:lnSpc>
              <a:spcBef>
                <a:spcPts val="0"/>
              </a:spcBef>
              <a:spcAft>
                <a:spcPts val="0"/>
              </a:spcAft>
              <a:buNone/>
            </a:pPr>
            <a:r>
              <a:rPr lang="pt-PT" sz="1100">
                <a:solidFill>
                  <a:schemeClr val="dk1"/>
                </a:solidFill>
                <a:latin typeface="Nunito"/>
                <a:ea typeface="Nunito"/>
                <a:cs typeface="Nunito"/>
                <a:sym typeface="Nunito"/>
              </a:rPr>
              <a:t>-Um sistema de anúncios in-app para que o prestador possa destacar e publicitar os seus serviços a todos os utilizadores de forma conveniente.</a:t>
            </a:r>
            <a:endParaRPr>
              <a:latin typeface="Nunito"/>
              <a:ea typeface="Nunito"/>
              <a:cs typeface="Nunito"/>
              <a:sym typeface="Nunito"/>
            </a:endParaRPr>
          </a:p>
        </p:txBody>
      </p:sp>
      <p:sp>
        <p:nvSpPr>
          <p:cNvPr id="121" name="Google Shape;121;g2fdba227523_0_171"/>
          <p:cNvSpPr txBox="1"/>
          <p:nvPr/>
        </p:nvSpPr>
        <p:spPr>
          <a:xfrm>
            <a:off x="6187363" y="430188"/>
            <a:ext cx="4886100" cy="384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pt-PT" sz="1300">
                <a:solidFill>
                  <a:schemeClr val="dk1"/>
                </a:solidFill>
                <a:latin typeface="Nunito"/>
                <a:ea typeface="Nunito"/>
                <a:cs typeface="Nunito"/>
                <a:sym typeface="Nunito"/>
              </a:rPr>
              <a:t>Informação e marcações de forma inovadora</a:t>
            </a:r>
            <a:endParaRPr b="1">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g2fdba227523_0_0"/>
          <p:cNvSpPr txBox="1"/>
          <p:nvPr>
            <p:ph type="ctrTitle"/>
          </p:nvPr>
        </p:nvSpPr>
        <p:spPr>
          <a:xfrm>
            <a:off x="1283183" y="582486"/>
            <a:ext cx="7989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Serviços</a:t>
            </a:r>
            <a:endParaRPr b="1" sz="1800">
              <a:solidFill>
                <a:srgbClr val="2F3F3D"/>
              </a:solidFill>
              <a:latin typeface="Nunito"/>
              <a:ea typeface="Nunito"/>
              <a:cs typeface="Nunito"/>
              <a:sym typeface="Nunito"/>
            </a:endParaRPr>
          </a:p>
          <a:p>
            <a:pPr indent="0" lvl="0" marL="0" rtl="0" algn="l">
              <a:spcBef>
                <a:spcPts val="0"/>
              </a:spcBef>
              <a:spcAft>
                <a:spcPts val="0"/>
              </a:spcAft>
              <a:buClr>
                <a:srgbClr val="5E7370"/>
              </a:buClr>
              <a:buSzPts val="1400"/>
              <a:buFont typeface="Nunito"/>
              <a:buNone/>
            </a:pPr>
            <a:r>
              <a:rPr lang="pt-PT" sz="1400">
                <a:solidFill>
                  <a:srgbClr val="5E7370"/>
                </a:solidFill>
                <a:latin typeface="Nunito"/>
                <a:ea typeface="Nunito"/>
                <a:cs typeface="Nunito"/>
                <a:sym typeface="Nunito"/>
              </a:rPr>
              <a:t>D</a:t>
            </a:r>
            <a:r>
              <a:rPr lang="pt-PT" sz="1400">
                <a:solidFill>
                  <a:srgbClr val="5E7370"/>
                </a:solidFill>
                <a:latin typeface="Nunito"/>
                <a:ea typeface="Nunito"/>
                <a:cs typeface="Nunito"/>
                <a:sym typeface="Nunito"/>
              </a:rPr>
              <a:t>a nossa plataforma</a:t>
            </a:r>
            <a:endParaRPr sz="1400">
              <a:latin typeface="Arial"/>
              <a:ea typeface="Arial"/>
              <a:cs typeface="Arial"/>
              <a:sym typeface="Arial"/>
            </a:endParaRPr>
          </a:p>
          <a:p>
            <a:pPr indent="0" lvl="0" marL="0" rtl="0" algn="l">
              <a:lnSpc>
                <a:spcPct val="90000"/>
              </a:lnSpc>
              <a:spcBef>
                <a:spcPts val="0"/>
              </a:spcBef>
              <a:spcAft>
                <a:spcPts val="0"/>
              </a:spcAft>
              <a:buClr>
                <a:srgbClr val="2F3F3D"/>
              </a:buClr>
              <a:buSzPts val="1800"/>
              <a:buFont typeface="Nunito"/>
              <a:buNone/>
            </a:pPr>
            <a:r>
              <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27" name="Google Shape;127;g2fdba227523_0_0"/>
          <p:cNvPicPr preferRelativeResize="0"/>
          <p:nvPr/>
        </p:nvPicPr>
        <p:blipFill rotWithShape="1">
          <a:blip r:embed="rId4">
            <a:alphaModFix/>
          </a:blip>
          <a:srcRect b="0" l="0" r="0" t="0"/>
          <a:stretch/>
        </p:blipFill>
        <p:spPr>
          <a:xfrm>
            <a:off x="10741946" y="410135"/>
            <a:ext cx="718662" cy="824088"/>
          </a:xfrm>
          <a:prstGeom prst="rect">
            <a:avLst/>
          </a:prstGeom>
          <a:noFill/>
          <a:ln>
            <a:noFill/>
          </a:ln>
        </p:spPr>
      </p:pic>
      <p:pic>
        <p:nvPicPr>
          <p:cNvPr descr="Uma imagem com desenho, vestuário, ilustração&#10;&#10;Descrição gerada automaticamente" id="128" name="Google Shape;128;g2fdba227523_0_0"/>
          <p:cNvPicPr preferRelativeResize="0"/>
          <p:nvPr/>
        </p:nvPicPr>
        <p:blipFill rotWithShape="1">
          <a:blip r:embed="rId5">
            <a:alphaModFix/>
          </a:blip>
          <a:srcRect b="0" l="0" r="0" t="0"/>
          <a:stretch/>
        </p:blipFill>
        <p:spPr>
          <a:xfrm>
            <a:off x="10525002" y="3065699"/>
            <a:ext cx="1553101" cy="1697399"/>
          </a:xfrm>
          <a:prstGeom prst="rect">
            <a:avLst/>
          </a:prstGeom>
          <a:noFill/>
          <a:ln>
            <a:noFill/>
          </a:ln>
        </p:spPr>
      </p:pic>
      <p:pic>
        <p:nvPicPr>
          <p:cNvPr descr="Uma imagem com texto, computador, captura de ecrã, multimédia&#10;&#10;Descrição gerada automaticamente" id="129" name="Google Shape;129;g2fdba227523_0_0"/>
          <p:cNvPicPr preferRelativeResize="0"/>
          <p:nvPr/>
        </p:nvPicPr>
        <p:blipFill rotWithShape="1">
          <a:blip r:embed="rId6">
            <a:alphaModFix/>
          </a:blip>
          <a:srcRect b="2280" l="4425" r="16685" t="31239"/>
          <a:stretch/>
        </p:blipFill>
        <p:spPr>
          <a:xfrm>
            <a:off x="6373577" y="4448441"/>
            <a:ext cx="5818422" cy="2409558"/>
          </a:xfrm>
          <a:prstGeom prst="rect">
            <a:avLst/>
          </a:prstGeom>
          <a:noFill/>
          <a:ln>
            <a:noFill/>
          </a:ln>
        </p:spPr>
      </p:pic>
      <p:pic>
        <p:nvPicPr>
          <p:cNvPr id="130" name="Google Shape;130;g2fdba227523_0_0"/>
          <p:cNvPicPr preferRelativeResize="0"/>
          <p:nvPr/>
        </p:nvPicPr>
        <p:blipFill rotWithShape="1">
          <a:blip r:embed="rId7">
            <a:alphaModFix/>
          </a:blip>
          <a:srcRect b="0" l="0" r="0" t="0"/>
          <a:stretch/>
        </p:blipFill>
        <p:spPr>
          <a:xfrm>
            <a:off x="621709" y="582468"/>
            <a:ext cx="567929" cy="558404"/>
          </a:xfrm>
          <a:prstGeom prst="rect">
            <a:avLst/>
          </a:prstGeom>
          <a:noFill/>
          <a:ln>
            <a:noFill/>
          </a:ln>
        </p:spPr>
      </p:pic>
      <p:sp>
        <p:nvSpPr>
          <p:cNvPr id="131" name="Google Shape;131;g2fdba227523_0_0"/>
          <p:cNvSpPr txBox="1"/>
          <p:nvPr/>
        </p:nvSpPr>
        <p:spPr>
          <a:xfrm>
            <a:off x="542025" y="2502150"/>
            <a:ext cx="3297900" cy="2207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F3F3D"/>
              </a:buClr>
              <a:buSzPts val="1400"/>
              <a:buFont typeface="Nunito"/>
              <a:buNone/>
            </a:pPr>
            <a:r>
              <a:rPr b="1" lang="pt-PT" sz="1600">
                <a:solidFill>
                  <a:srgbClr val="2F3F3D"/>
                </a:solidFill>
                <a:latin typeface="Nunito"/>
                <a:ea typeface="Nunito"/>
                <a:cs typeface="Nunito"/>
                <a:sym typeface="Nunito"/>
              </a:rPr>
              <a:t>Aplicação móvel</a:t>
            </a:r>
            <a:endParaRPr sz="1600">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t/>
            </a:r>
            <a:endParaRPr b="1">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-Armazenamento de dados de saúde;</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-Marcação de consultas;</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-Motor de pesquisa de serviços;</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-Sistema de partilha de informação;</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-Registos clínicos.</a:t>
            </a:r>
            <a:endParaRPr>
              <a:solidFill>
                <a:srgbClr val="56554D"/>
              </a:solidFill>
              <a:latin typeface="Nunito"/>
              <a:ea typeface="Nunito"/>
              <a:cs typeface="Nunito"/>
              <a:sym typeface="Nunito"/>
            </a:endParaRPr>
          </a:p>
        </p:txBody>
      </p:sp>
      <p:sp>
        <p:nvSpPr>
          <p:cNvPr id="132" name="Google Shape;132;g2fdba227523_0_0"/>
          <p:cNvSpPr txBox="1"/>
          <p:nvPr/>
        </p:nvSpPr>
        <p:spPr>
          <a:xfrm>
            <a:off x="4014450" y="2502150"/>
            <a:ext cx="3297900" cy="2824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100"/>
              <a:buFont typeface="Arial"/>
              <a:buNone/>
            </a:pPr>
            <a:r>
              <a:rPr b="1" lang="pt-PT" sz="1600">
                <a:solidFill>
                  <a:srgbClr val="2F3F3D"/>
                </a:solidFill>
                <a:latin typeface="Nunito"/>
                <a:ea typeface="Nunito"/>
                <a:cs typeface="Nunito"/>
                <a:sym typeface="Nunito"/>
              </a:rPr>
              <a:t> BackOffice (Aplicação Web)  </a:t>
            </a:r>
            <a:endParaRPr b="1" sz="1600">
              <a:solidFill>
                <a:srgbClr val="2F3F3D"/>
              </a:solidFill>
              <a:latin typeface="Nunito"/>
              <a:ea typeface="Nunito"/>
              <a:cs typeface="Nunito"/>
              <a:sym typeface="Nunito"/>
            </a:endParaRPr>
          </a:p>
          <a:p>
            <a:pPr indent="0" lvl="0" marL="0" rtl="0" algn="l">
              <a:lnSpc>
                <a:spcPct val="150000"/>
              </a:lnSpc>
              <a:spcBef>
                <a:spcPts val="0"/>
              </a:spcBef>
              <a:spcAft>
                <a:spcPts val="0"/>
              </a:spcAft>
              <a:buClr>
                <a:schemeClr val="dk1"/>
              </a:buClr>
              <a:buSzPts val="1100"/>
              <a:buFont typeface="Arial"/>
              <a:buNone/>
            </a:pPr>
            <a:r>
              <a:t/>
            </a:r>
            <a:endParaRPr b="1">
              <a:solidFill>
                <a:srgbClr val="2F3F3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-Agendamento; </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-Destaques;</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-Divulgação de serviços;</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-Pagamentos;</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-Sistema de gestão de conta.</a:t>
            </a:r>
            <a:endParaRPr>
              <a:solidFill>
                <a:srgbClr val="56554D"/>
              </a:solidFill>
              <a:latin typeface="Nunito"/>
              <a:ea typeface="Nunito"/>
              <a:cs typeface="Nunito"/>
              <a:sym typeface="Nunito"/>
            </a:endParaRPr>
          </a:p>
        </p:txBody>
      </p:sp>
      <p:sp>
        <p:nvSpPr>
          <p:cNvPr id="133" name="Google Shape;133;g2fdba227523_0_0"/>
          <p:cNvSpPr/>
          <p:nvPr/>
        </p:nvSpPr>
        <p:spPr>
          <a:xfrm>
            <a:off x="621700" y="2059725"/>
            <a:ext cx="1023300" cy="215100"/>
          </a:xfrm>
          <a:prstGeom prst="roundRect">
            <a:avLst>
              <a:gd fmla="val 16667" name="adj"/>
            </a:avLst>
          </a:prstGeom>
          <a:solidFill>
            <a:srgbClr val="E4F9E4"/>
          </a:solidFill>
          <a:ln cap="flat" cmpd="sng" w="9525">
            <a:solidFill>
              <a:srgbClr val="A2E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300">
                <a:solidFill>
                  <a:srgbClr val="0AAD18"/>
                </a:solidFill>
                <a:latin typeface="Nunito SemiBold"/>
                <a:ea typeface="Nunito SemiBold"/>
                <a:cs typeface="Nunito SemiBold"/>
                <a:sym typeface="Nunito SemiBold"/>
              </a:rPr>
              <a:t>Pacientes</a:t>
            </a:r>
            <a:endParaRPr sz="1300">
              <a:solidFill>
                <a:srgbClr val="0AAD18"/>
              </a:solidFill>
              <a:latin typeface="Nunito SemiBold"/>
              <a:ea typeface="Nunito SemiBold"/>
              <a:cs typeface="Nunito SemiBold"/>
              <a:sym typeface="Nunito SemiBold"/>
            </a:endParaRPr>
          </a:p>
        </p:txBody>
      </p:sp>
      <p:sp>
        <p:nvSpPr>
          <p:cNvPr id="134" name="Google Shape;134;g2fdba227523_0_0"/>
          <p:cNvSpPr/>
          <p:nvPr/>
        </p:nvSpPr>
        <p:spPr>
          <a:xfrm>
            <a:off x="5404700" y="2059714"/>
            <a:ext cx="1175100" cy="215100"/>
          </a:xfrm>
          <a:prstGeom prst="roundRect">
            <a:avLst>
              <a:gd fmla="val 16667" name="adj"/>
            </a:avLst>
          </a:prstGeom>
          <a:solidFill>
            <a:srgbClr val="F9F2F5"/>
          </a:solidFill>
          <a:ln cap="flat" cmpd="sng" w="9525">
            <a:solidFill>
              <a:srgbClr val="EC548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100">
                <a:solidFill>
                  <a:srgbClr val="E4025B"/>
                </a:solidFill>
                <a:latin typeface="Nunito SemiBold"/>
                <a:ea typeface="Nunito SemiBold"/>
                <a:cs typeface="Nunito SemiBold"/>
                <a:sym typeface="Nunito SemiBold"/>
              </a:rPr>
              <a:t>Prof. de Saúde</a:t>
            </a:r>
            <a:endParaRPr sz="1100">
              <a:solidFill>
                <a:srgbClr val="E4025B"/>
              </a:solidFill>
              <a:latin typeface="Nunito SemiBold"/>
              <a:ea typeface="Nunito SemiBold"/>
              <a:cs typeface="Nunito SemiBold"/>
              <a:sym typeface="Nunito SemiBold"/>
            </a:endParaRPr>
          </a:p>
        </p:txBody>
      </p:sp>
      <p:sp>
        <p:nvSpPr>
          <p:cNvPr id="135" name="Google Shape;135;g2fdba227523_0_0"/>
          <p:cNvSpPr/>
          <p:nvPr/>
        </p:nvSpPr>
        <p:spPr>
          <a:xfrm>
            <a:off x="4153675" y="2059725"/>
            <a:ext cx="1175100" cy="215100"/>
          </a:xfrm>
          <a:prstGeom prst="roundRect">
            <a:avLst>
              <a:gd fmla="val 16667" name="adj"/>
            </a:avLst>
          </a:prstGeom>
          <a:solidFill>
            <a:srgbClr val="E6FBFB"/>
          </a:solidFill>
          <a:ln cap="flat" cmpd="sng" w="9525">
            <a:solidFill>
              <a:srgbClr val="A6D7D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300">
                <a:solidFill>
                  <a:srgbClr val="008295"/>
                </a:solidFill>
                <a:latin typeface="Nunito SemiBold"/>
                <a:ea typeface="Nunito SemiBold"/>
                <a:cs typeface="Nunito SemiBold"/>
                <a:sym typeface="Nunito SemiBold"/>
              </a:rPr>
              <a:t>Clínicas</a:t>
            </a:r>
            <a:endParaRPr sz="1300">
              <a:solidFill>
                <a:srgbClr val="008295"/>
              </a:solidFill>
              <a:latin typeface="Nunito SemiBold"/>
              <a:ea typeface="Nunito SemiBold"/>
              <a:cs typeface="Nunito SemiBold"/>
              <a:sym typeface="Nunito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g2fdba227523_0_83"/>
          <p:cNvSpPr txBox="1"/>
          <p:nvPr>
            <p:ph type="ctrTitle"/>
          </p:nvPr>
        </p:nvSpPr>
        <p:spPr>
          <a:xfrm>
            <a:off x="1283183" y="582486"/>
            <a:ext cx="7989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Utilizadores</a:t>
            </a:r>
            <a:endParaRPr b="1" sz="1800">
              <a:solidFill>
                <a:srgbClr val="2F3F3D"/>
              </a:solidFill>
              <a:latin typeface="Nunito"/>
              <a:ea typeface="Nunito"/>
              <a:cs typeface="Nunito"/>
              <a:sym typeface="Nunito"/>
            </a:endParaRPr>
          </a:p>
          <a:p>
            <a:pPr indent="0" lvl="0" marL="0" rtl="0" algn="l">
              <a:lnSpc>
                <a:spcPct val="90000"/>
              </a:lnSpc>
              <a:spcBef>
                <a:spcPts val="0"/>
              </a:spcBef>
              <a:spcAft>
                <a:spcPts val="0"/>
              </a:spcAft>
              <a:buClr>
                <a:srgbClr val="2F3F3D"/>
              </a:buClr>
              <a:buSzPts val="1800"/>
              <a:buFont typeface="Nunito"/>
              <a:buNone/>
            </a:pPr>
            <a:r>
              <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41" name="Google Shape;141;g2fdba227523_0_83"/>
          <p:cNvPicPr preferRelativeResize="0"/>
          <p:nvPr/>
        </p:nvPicPr>
        <p:blipFill rotWithShape="1">
          <a:blip r:embed="rId4">
            <a:alphaModFix/>
          </a:blip>
          <a:srcRect b="0" l="0" r="0" t="0"/>
          <a:stretch/>
        </p:blipFill>
        <p:spPr>
          <a:xfrm>
            <a:off x="10741946" y="410135"/>
            <a:ext cx="718662" cy="824088"/>
          </a:xfrm>
          <a:prstGeom prst="rect">
            <a:avLst/>
          </a:prstGeom>
          <a:noFill/>
          <a:ln>
            <a:noFill/>
          </a:ln>
        </p:spPr>
      </p:pic>
      <p:sp>
        <p:nvSpPr>
          <p:cNvPr id="142" name="Google Shape;142;g2fdba227523_0_83"/>
          <p:cNvSpPr/>
          <p:nvPr/>
        </p:nvSpPr>
        <p:spPr>
          <a:xfrm>
            <a:off x="1368250" y="938072"/>
            <a:ext cx="1309200" cy="296100"/>
          </a:xfrm>
          <a:prstGeom prst="roundRect">
            <a:avLst>
              <a:gd fmla="val 16667" name="adj"/>
            </a:avLst>
          </a:prstGeom>
          <a:solidFill>
            <a:srgbClr val="E4F9E4"/>
          </a:solidFill>
          <a:ln cap="flat" cmpd="sng" w="9525">
            <a:solidFill>
              <a:srgbClr val="A2E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300">
                <a:solidFill>
                  <a:srgbClr val="0AAD18"/>
                </a:solidFill>
                <a:latin typeface="Nunito SemiBold"/>
                <a:ea typeface="Nunito SemiBold"/>
                <a:cs typeface="Nunito SemiBold"/>
                <a:sym typeface="Nunito SemiBold"/>
              </a:rPr>
              <a:t>Pacientes</a:t>
            </a:r>
            <a:endParaRPr sz="1300">
              <a:solidFill>
                <a:srgbClr val="0AAD18"/>
              </a:solidFill>
              <a:latin typeface="Nunito SemiBold"/>
              <a:ea typeface="Nunito SemiBold"/>
              <a:cs typeface="Nunito SemiBold"/>
              <a:sym typeface="Nunito SemiBold"/>
            </a:endParaRPr>
          </a:p>
        </p:txBody>
      </p:sp>
      <p:pic>
        <p:nvPicPr>
          <p:cNvPr id="143" name="Google Shape;143;g2fdba227523_0_83"/>
          <p:cNvPicPr preferRelativeResize="0"/>
          <p:nvPr/>
        </p:nvPicPr>
        <p:blipFill rotWithShape="1">
          <a:blip r:embed="rId5">
            <a:alphaModFix/>
          </a:blip>
          <a:srcRect b="0" l="0" r="0" t="0"/>
          <a:stretch/>
        </p:blipFill>
        <p:spPr>
          <a:xfrm>
            <a:off x="657370" y="553247"/>
            <a:ext cx="541415" cy="537843"/>
          </a:xfrm>
          <a:prstGeom prst="rect">
            <a:avLst/>
          </a:prstGeom>
          <a:noFill/>
          <a:ln>
            <a:noFill/>
          </a:ln>
        </p:spPr>
      </p:pic>
      <p:sp>
        <p:nvSpPr>
          <p:cNvPr id="144" name="Google Shape;144;g2fdba227523_0_83"/>
          <p:cNvSpPr txBox="1"/>
          <p:nvPr/>
        </p:nvSpPr>
        <p:spPr>
          <a:xfrm>
            <a:off x="580008" y="1715126"/>
            <a:ext cx="1547700" cy="3165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rgbClr val="2F3F3D"/>
              </a:buClr>
              <a:buSzPts val="1400"/>
              <a:buFont typeface="Nunito"/>
              <a:buNone/>
            </a:pPr>
            <a:r>
              <a:rPr b="1" lang="pt-PT">
                <a:solidFill>
                  <a:srgbClr val="2F3F3D"/>
                </a:solidFill>
                <a:latin typeface="Nunito"/>
                <a:ea typeface="Nunito"/>
                <a:cs typeface="Nunito"/>
                <a:sym typeface="Nunito"/>
              </a:rPr>
              <a:t>Quem são?</a:t>
            </a:r>
            <a:endParaRPr b="1" i="0" sz="5400" u="none" cap="none" strike="noStrike">
              <a:solidFill>
                <a:srgbClr val="2F3F3D"/>
              </a:solidFill>
              <a:latin typeface="Nunito"/>
              <a:ea typeface="Nunito"/>
              <a:cs typeface="Nunito"/>
              <a:sym typeface="Nunito"/>
            </a:endParaRPr>
          </a:p>
        </p:txBody>
      </p:sp>
      <p:sp>
        <p:nvSpPr>
          <p:cNvPr id="145" name="Google Shape;145;g2fdba227523_0_83"/>
          <p:cNvSpPr txBox="1"/>
          <p:nvPr/>
        </p:nvSpPr>
        <p:spPr>
          <a:xfrm>
            <a:off x="580000" y="2143750"/>
            <a:ext cx="3297900" cy="41703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140000"/>
              </a:lnSpc>
              <a:spcBef>
                <a:spcPts val="0"/>
              </a:spcBef>
              <a:spcAft>
                <a:spcPts val="0"/>
              </a:spcAft>
              <a:buClr>
                <a:srgbClr val="56554D"/>
              </a:buClr>
              <a:buSzPts val="1200"/>
              <a:buFont typeface="Nunito"/>
              <a:buNone/>
            </a:pPr>
            <a:r>
              <a:rPr lang="pt-PT">
                <a:solidFill>
                  <a:srgbClr val="56554D"/>
                </a:solidFill>
                <a:latin typeface="Nunito"/>
                <a:ea typeface="Nunito"/>
                <a:cs typeface="Nunito"/>
                <a:sym typeface="Nunito"/>
              </a:rPr>
              <a:t>Os utilizadores da app Umedicu são pacientes que procuram facilitar o seu acesso a cuidados de saúde em Portugal. </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rgbClr val="56554D"/>
              </a:buClr>
              <a:buSzPts val="1200"/>
              <a:buFont typeface="Nunito"/>
              <a:buNone/>
            </a:pPr>
            <a:r>
              <a:rPr lang="pt-PT">
                <a:solidFill>
                  <a:srgbClr val="56554D"/>
                </a:solidFill>
                <a:latin typeface="Nunito"/>
                <a:ea typeface="Nunito"/>
                <a:cs typeface="Nunito"/>
                <a:sym typeface="Nunito"/>
              </a:rPr>
              <a:t>Procuram qualquer tipo de serviços de saúde de que necessitam, desde consultas de rotina até ao acompanhamento contínuo das suas condições crónicas.</a:t>
            </a:r>
            <a:endParaRPr>
              <a:solidFill>
                <a:srgbClr val="56554D"/>
              </a:solidFill>
              <a:latin typeface="Nunito"/>
              <a:ea typeface="Nunito"/>
              <a:cs typeface="Nunito"/>
              <a:sym typeface="Nunito"/>
            </a:endParaRPr>
          </a:p>
          <a:p>
            <a:pPr indent="0" lvl="0" marL="0" rtl="0" algn="just">
              <a:lnSpc>
                <a:spcPct val="140000"/>
              </a:lnSpc>
              <a:spcBef>
                <a:spcPts val="0"/>
              </a:spcBef>
              <a:spcAft>
                <a:spcPts val="0"/>
              </a:spcAft>
              <a:buClr>
                <a:srgbClr val="56554D"/>
              </a:buClr>
              <a:buSzPts val="1200"/>
              <a:buFont typeface="Nunito"/>
              <a:buNone/>
            </a:pPr>
            <a:r>
              <a:rPr lang="pt-PT">
                <a:solidFill>
                  <a:srgbClr val="56554D"/>
                </a:solidFill>
                <a:latin typeface="Nunito"/>
                <a:ea typeface="Nunito"/>
                <a:cs typeface="Nunito"/>
                <a:sym typeface="Nunito"/>
              </a:rPr>
              <a:t>Com o nosso motor de pesquisa poderão ter acesso facilitado a informações sobre o serviço, </a:t>
            </a:r>
            <a:r>
              <a:rPr lang="pt-PT">
                <a:solidFill>
                  <a:srgbClr val="56554D"/>
                </a:solidFill>
                <a:latin typeface="Nunito"/>
                <a:ea typeface="Nunito"/>
                <a:cs typeface="Nunito"/>
                <a:sym typeface="Nunito"/>
              </a:rPr>
              <a:t>as clínicas que o prestam, </a:t>
            </a:r>
            <a:r>
              <a:rPr lang="pt-PT">
                <a:solidFill>
                  <a:srgbClr val="56554D"/>
                </a:solidFill>
                <a:latin typeface="Nunito"/>
                <a:ea typeface="Nunito"/>
                <a:cs typeface="Nunito"/>
                <a:sym typeface="Nunito"/>
              </a:rPr>
              <a:t>os profissionais que o desempenham, os preços praticados e até os seguros que os cobrem.</a:t>
            </a:r>
            <a:endParaRPr b="0" i="0" sz="1200" u="none" cap="none" strike="noStrike">
              <a:solidFill>
                <a:schemeClr val="dk1"/>
              </a:solidFill>
              <a:latin typeface="Nunito"/>
              <a:ea typeface="Nunito"/>
              <a:cs typeface="Nunito"/>
              <a:sym typeface="Nunito"/>
            </a:endParaRPr>
          </a:p>
        </p:txBody>
      </p:sp>
      <p:sp>
        <p:nvSpPr>
          <p:cNvPr id="146" name="Google Shape;146;g2fdba227523_0_83"/>
          <p:cNvSpPr txBox="1"/>
          <p:nvPr/>
        </p:nvSpPr>
        <p:spPr>
          <a:xfrm>
            <a:off x="4354301" y="1691300"/>
            <a:ext cx="1769700" cy="31650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2F3F3D"/>
              </a:buClr>
              <a:buSzPct val="92831"/>
              <a:buFont typeface="Nunito"/>
              <a:buNone/>
            </a:pPr>
            <a:r>
              <a:rPr b="1" lang="pt-PT" sz="1508">
                <a:solidFill>
                  <a:srgbClr val="2F3F3D"/>
                </a:solidFill>
                <a:latin typeface="Nunito"/>
                <a:ea typeface="Nunito"/>
                <a:cs typeface="Nunito"/>
                <a:sym typeface="Nunito"/>
              </a:rPr>
              <a:t>O que procuram?</a:t>
            </a:r>
            <a:endParaRPr b="1" i="0" sz="5508" u="none" cap="none" strike="noStrike">
              <a:solidFill>
                <a:srgbClr val="2F3F3D"/>
              </a:solidFill>
              <a:latin typeface="Nunito"/>
              <a:ea typeface="Nunito"/>
              <a:cs typeface="Nunito"/>
              <a:sym typeface="Nunito"/>
            </a:endParaRPr>
          </a:p>
        </p:txBody>
      </p:sp>
      <p:sp>
        <p:nvSpPr>
          <p:cNvPr id="147" name="Google Shape;147;g2fdba227523_0_83"/>
          <p:cNvSpPr txBox="1"/>
          <p:nvPr/>
        </p:nvSpPr>
        <p:spPr>
          <a:xfrm>
            <a:off x="4354300" y="2119925"/>
            <a:ext cx="3297900" cy="4170300"/>
          </a:xfrm>
          <a:prstGeom prst="rect">
            <a:avLst/>
          </a:prstGeom>
          <a:noFill/>
          <a:ln>
            <a:noFill/>
          </a:ln>
        </p:spPr>
        <p:txBody>
          <a:bodyPr anchorCtr="0" anchor="t" bIns="45700" lIns="91425" spcFirstLastPara="1" rIns="91425" wrap="square" tIns="45700">
            <a:noAutofit/>
          </a:bodyPr>
          <a:lstStyle/>
          <a:p>
            <a:pPr indent="0" lvl="0" marL="0" marR="0" rtl="0" algn="just">
              <a:lnSpc>
                <a:spcPct val="120000"/>
              </a:lnSpc>
              <a:spcBef>
                <a:spcPts val="0"/>
              </a:spcBef>
              <a:spcAft>
                <a:spcPts val="0"/>
              </a:spcAft>
              <a:buClr>
                <a:srgbClr val="56554D"/>
              </a:buClr>
              <a:buSzPts val="1200"/>
              <a:buFont typeface="Nunito"/>
              <a:buNone/>
            </a:pPr>
            <a:r>
              <a:rPr lang="pt-PT">
                <a:solidFill>
                  <a:srgbClr val="56554D"/>
                </a:solidFill>
                <a:latin typeface="Nunito"/>
                <a:ea typeface="Nunito"/>
                <a:cs typeface="Nunito"/>
                <a:sym typeface="Nunito"/>
              </a:rPr>
              <a:t>Os pacientes procuram uma solução que centralize toda a sua informação de saúde, desde registos médicos a resultados de exames, de forma segura e acessível. Além disso, procuram uma plataforma que simplifique o processo de encontrar e marcar consultas com profissionais de saúde, comparar serviços e entender que seguros de saúde são aceites por cada prestador.</a:t>
            </a:r>
            <a:endParaRPr>
              <a:solidFill>
                <a:srgbClr val="56554D"/>
              </a:solidFill>
              <a:latin typeface="Nunito"/>
              <a:ea typeface="Nunito"/>
              <a:cs typeface="Nunito"/>
              <a:sym typeface="Nunito"/>
            </a:endParaRPr>
          </a:p>
          <a:p>
            <a:pPr indent="0" lvl="0" marL="0" marR="0" rtl="0" algn="just">
              <a:lnSpc>
                <a:spcPct val="120000"/>
              </a:lnSpc>
              <a:spcBef>
                <a:spcPts val="0"/>
              </a:spcBef>
              <a:spcAft>
                <a:spcPts val="0"/>
              </a:spcAft>
              <a:buClr>
                <a:srgbClr val="56554D"/>
              </a:buClr>
              <a:buSzPts val="1200"/>
              <a:buFont typeface="Nunito"/>
              <a:buNone/>
            </a:pPr>
            <a:r>
              <a:rPr lang="pt-PT">
                <a:solidFill>
                  <a:srgbClr val="56554D"/>
                </a:solidFill>
                <a:latin typeface="Nunito"/>
                <a:ea typeface="Nunito"/>
                <a:cs typeface="Nunito"/>
                <a:sym typeface="Nunito"/>
              </a:rPr>
              <a:t>Com a Umedicu conseguirão assim poupar tempo e dinheiro, podendo focar-se no que realmente interessa: a sua saúde!</a:t>
            </a:r>
            <a:endParaRPr>
              <a:solidFill>
                <a:srgbClr val="56554D"/>
              </a:solidFill>
              <a:latin typeface="Nunito"/>
              <a:ea typeface="Nunito"/>
              <a:cs typeface="Nunito"/>
              <a:sym typeface="Nunito"/>
            </a:endParaRPr>
          </a:p>
        </p:txBody>
      </p:sp>
      <p:sp>
        <p:nvSpPr>
          <p:cNvPr id="148" name="Google Shape;148;g2fdba227523_0_83"/>
          <p:cNvSpPr txBox="1"/>
          <p:nvPr/>
        </p:nvSpPr>
        <p:spPr>
          <a:xfrm>
            <a:off x="8223828" y="1691300"/>
            <a:ext cx="2518200" cy="3165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Como os podemos ajudar?</a:t>
            </a:r>
            <a:endParaRPr b="1" i="0" sz="5400" u="none" cap="none" strike="noStrike">
              <a:solidFill>
                <a:srgbClr val="2F3F3D"/>
              </a:solidFill>
              <a:latin typeface="Nunito"/>
              <a:ea typeface="Nunito"/>
              <a:cs typeface="Nunito"/>
              <a:sym typeface="Nunito"/>
            </a:endParaRPr>
          </a:p>
        </p:txBody>
      </p:sp>
      <p:sp>
        <p:nvSpPr>
          <p:cNvPr id="149" name="Google Shape;149;g2fdba227523_0_83"/>
          <p:cNvSpPr txBox="1"/>
          <p:nvPr/>
        </p:nvSpPr>
        <p:spPr>
          <a:xfrm>
            <a:off x="8223825" y="2146025"/>
            <a:ext cx="3297900" cy="4118100"/>
          </a:xfrm>
          <a:prstGeom prst="rect">
            <a:avLst/>
          </a:prstGeom>
          <a:noFill/>
          <a:ln>
            <a:noFill/>
          </a:ln>
        </p:spPr>
        <p:txBody>
          <a:bodyPr anchorCtr="0" anchor="t" bIns="45700" lIns="91425" spcFirstLastPara="1" rIns="91425" wrap="square" tIns="45700">
            <a:noAutofit/>
          </a:bodyPr>
          <a:lstStyle/>
          <a:p>
            <a:pPr indent="0" lvl="0" marL="0" rtl="0" algn="just">
              <a:lnSpc>
                <a:spcPct val="12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Com a Umedicu, os utilizadores têm acesso a uma app que agrega toda a informação necessária para tomar decisões informadas sobre a sua saúde. Podem pesquisar médicos e clínicas, comparar preços e serviços, e agendar consultas de forma simples e direta. A Umedicu permite ainda aos pacientes armazenar e partilhar os seus registos de saúde digitalmente, eliminando a necessidade de carregar consigo documentos em papel e facilitando o acesso às informações sempre que necessário.</a:t>
            </a:r>
            <a:endParaRPr>
              <a:solidFill>
                <a:srgbClr val="56554D"/>
              </a:solidFill>
              <a:latin typeface="Nunito"/>
              <a:ea typeface="Nunito"/>
              <a:cs typeface="Nunito"/>
              <a:sym typeface="Nunito"/>
            </a:endParaRPr>
          </a:p>
          <a:p>
            <a:pPr indent="0" lvl="0" marL="0" marR="0" rtl="0" algn="l">
              <a:lnSpc>
                <a:spcPct val="160000"/>
              </a:lnSpc>
              <a:spcBef>
                <a:spcPts val="0"/>
              </a:spcBef>
              <a:spcAft>
                <a:spcPts val="0"/>
              </a:spcAft>
              <a:buClr>
                <a:schemeClr val="dk1"/>
              </a:buClr>
              <a:buSzPts val="1200"/>
              <a:buFont typeface="Nunito"/>
              <a:buNone/>
            </a:pPr>
            <a:r>
              <a:t/>
            </a:r>
            <a:endParaRPr>
              <a:solidFill>
                <a:srgbClr val="56554D"/>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5"/>
          <p:cNvSpPr txBox="1"/>
          <p:nvPr>
            <p:ph type="ctrTitle"/>
          </p:nvPr>
        </p:nvSpPr>
        <p:spPr>
          <a:xfrm>
            <a:off x="1195358" y="582486"/>
            <a:ext cx="7989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Seguradoras</a:t>
            </a:r>
            <a:endParaRPr b="1" sz="1800">
              <a:solidFill>
                <a:srgbClr val="2F3F3D"/>
              </a:solidFill>
              <a:latin typeface="Nunito"/>
              <a:ea typeface="Nunito"/>
              <a:cs typeface="Nunito"/>
              <a:sym typeface="Nunito"/>
            </a:endParaRPr>
          </a:p>
          <a:p>
            <a:pPr indent="0" lvl="0" marL="0" rtl="0" algn="l">
              <a:lnSpc>
                <a:spcPct val="90000"/>
              </a:lnSpc>
              <a:spcBef>
                <a:spcPts val="0"/>
              </a:spcBef>
              <a:spcAft>
                <a:spcPts val="0"/>
              </a:spcAft>
              <a:buClr>
                <a:srgbClr val="2F3F3D"/>
              </a:buClr>
              <a:buSzPts val="1800"/>
              <a:buFont typeface="Nunito"/>
              <a:buNone/>
            </a:pPr>
            <a:r>
              <a:t/>
            </a:r>
            <a:endParaRPr b="1" sz="500">
              <a:solidFill>
                <a:srgbClr val="2F3F3D"/>
              </a:solidFill>
              <a:latin typeface="Nunito"/>
              <a:ea typeface="Nunito"/>
              <a:cs typeface="Nunito"/>
              <a:sym typeface="Nunito"/>
            </a:endParaRPr>
          </a:p>
          <a:p>
            <a:pPr indent="0" lvl="0" marL="0" rtl="0" algn="l">
              <a:spcBef>
                <a:spcPts val="0"/>
              </a:spcBef>
              <a:spcAft>
                <a:spcPts val="0"/>
              </a:spcAft>
              <a:buClr>
                <a:srgbClr val="5E7370"/>
              </a:buClr>
              <a:buSzPts val="1400"/>
              <a:buFont typeface="Nunito"/>
              <a:buNone/>
            </a:pPr>
            <a:r>
              <a:rPr lang="pt-PT" sz="1400">
                <a:solidFill>
                  <a:srgbClr val="5E7370"/>
                </a:solidFill>
                <a:latin typeface="Nunito"/>
                <a:ea typeface="Nunito"/>
                <a:cs typeface="Nunito"/>
                <a:sym typeface="Nunito"/>
              </a:rPr>
              <a:t>O que pretendemos</a:t>
            </a:r>
            <a:endParaRPr sz="1400">
              <a:latin typeface="Arial"/>
              <a:ea typeface="Arial"/>
              <a:cs typeface="Arial"/>
              <a:sym typeface="Arial"/>
            </a:endParaRPr>
          </a:p>
          <a:p>
            <a:pPr indent="0" lvl="0" marL="0" rtl="0" algn="l">
              <a:lnSpc>
                <a:spcPct val="90000"/>
              </a:lnSpc>
              <a:spcBef>
                <a:spcPts val="0"/>
              </a:spcBef>
              <a:spcAft>
                <a:spcPts val="0"/>
              </a:spcAft>
              <a:buClr>
                <a:srgbClr val="2F3F3D"/>
              </a:buClr>
              <a:buSzPts val="1800"/>
              <a:buFont typeface="Nunito"/>
              <a:buNone/>
            </a:pPr>
            <a:r>
              <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55" name="Google Shape;155;p5"/>
          <p:cNvPicPr preferRelativeResize="0"/>
          <p:nvPr/>
        </p:nvPicPr>
        <p:blipFill rotWithShape="1">
          <a:blip r:embed="rId4">
            <a:alphaModFix/>
          </a:blip>
          <a:srcRect b="0" l="0" r="0" t="0"/>
          <a:stretch/>
        </p:blipFill>
        <p:spPr>
          <a:xfrm>
            <a:off x="10741946" y="410135"/>
            <a:ext cx="718662" cy="824088"/>
          </a:xfrm>
          <a:prstGeom prst="rect">
            <a:avLst/>
          </a:prstGeom>
          <a:noFill/>
          <a:ln>
            <a:noFill/>
          </a:ln>
        </p:spPr>
      </p:pic>
      <p:sp>
        <p:nvSpPr>
          <p:cNvPr id="156" name="Google Shape;156;p5"/>
          <p:cNvSpPr txBox="1"/>
          <p:nvPr/>
        </p:nvSpPr>
        <p:spPr>
          <a:xfrm>
            <a:off x="580008" y="1715126"/>
            <a:ext cx="1547700" cy="316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a:solidFill>
                  <a:srgbClr val="2F3F3D"/>
                </a:solidFill>
                <a:latin typeface="Nunito"/>
                <a:ea typeface="Nunito"/>
                <a:cs typeface="Nunito"/>
                <a:sym typeface="Nunito"/>
              </a:rPr>
              <a:t>Objetivo</a:t>
            </a:r>
            <a:endParaRPr b="1" i="0" sz="5400" u="none" cap="none" strike="noStrike">
              <a:solidFill>
                <a:srgbClr val="2F3F3D"/>
              </a:solidFill>
              <a:latin typeface="Nunito"/>
              <a:ea typeface="Nunito"/>
              <a:cs typeface="Nunito"/>
              <a:sym typeface="Nunito"/>
            </a:endParaRPr>
          </a:p>
        </p:txBody>
      </p:sp>
      <p:sp>
        <p:nvSpPr>
          <p:cNvPr id="157" name="Google Shape;157;p5"/>
          <p:cNvSpPr txBox="1"/>
          <p:nvPr/>
        </p:nvSpPr>
        <p:spPr>
          <a:xfrm>
            <a:off x="580000" y="2143750"/>
            <a:ext cx="3297900" cy="4118100"/>
          </a:xfrm>
          <a:prstGeom prst="rect">
            <a:avLst/>
          </a:prstGeom>
          <a:noFill/>
          <a:ln>
            <a:noFill/>
          </a:ln>
        </p:spPr>
        <p:txBody>
          <a:bodyPr anchorCtr="0" anchor="t" bIns="45700" lIns="91425" spcFirstLastPara="1" rIns="91425" wrap="square" tIns="45700">
            <a:normAutofit/>
          </a:bodyPr>
          <a:lstStyle/>
          <a:p>
            <a:pPr indent="0" lvl="0" marL="0" rtl="0" algn="just">
              <a:lnSpc>
                <a:spcPct val="140000"/>
              </a:lnSpc>
              <a:spcBef>
                <a:spcPts val="0"/>
              </a:spcBef>
              <a:spcAft>
                <a:spcPts val="0"/>
              </a:spcAft>
              <a:buClr>
                <a:srgbClr val="56554D"/>
              </a:buClr>
              <a:buSzPts val="1200"/>
              <a:buFont typeface="Nunito"/>
              <a:buNone/>
            </a:pPr>
            <a:r>
              <a:rPr lang="pt-PT">
                <a:solidFill>
                  <a:srgbClr val="56554D"/>
                </a:solidFill>
                <a:latin typeface="Nunito"/>
                <a:ea typeface="Nunito"/>
                <a:cs typeface="Nunito"/>
                <a:sym typeface="Nunito"/>
              </a:rPr>
              <a:t>O objetivo principal das parcerias com seguradoras é facilitar o acesso à informação que os pacientes normalmente não têm de forma prática. Queremos disponibilizar, de maneira clara e acessível, detalhes como- que médicos ou clínicas trabalham com cada seguro, os preços, descontos aplicáveis, e onde encontrá-los. Assim, ajudamos os pacientes portugueses a tomar decisões informadas sobre os seus cuidados de saúde.</a:t>
            </a:r>
            <a:endParaRPr b="0" i="0" sz="1200" u="none" cap="none" strike="noStrike">
              <a:solidFill>
                <a:schemeClr val="dk1"/>
              </a:solidFill>
              <a:latin typeface="Nunito"/>
              <a:ea typeface="Nunito"/>
              <a:cs typeface="Nunito"/>
              <a:sym typeface="Nunito"/>
            </a:endParaRPr>
          </a:p>
        </p:txBody>
      </p:sp>
      <p:sp>
        <p:nvSpPr>
          <p:cNvPr id="158" name="Google Shape;158;p5"/>
          <p:cNvSpPr txBox="1"/>
          <p:nvPr/>
        </p:nvSpPr>
        <p:spPr>
          <a:xfrm>
            <a:off x="4354290" y="1691312"/>
            <a:ext cx="1547700" cy="316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a:solidFill>
                  <a:srgbClr val="2F3F3D"/>
                </a:solidFill>
                <a:latin typeface="Nunito"/>
                <a:ea typeface="Nunito"/>
                <a:cs typeface="Nunito"/>
                <a:sym typeface="Nunito"/>
              </a:rPr>
              <a:t>Método</a:t>
            </a:r>
            <a:endParaRPr b="1" i="0" sz="5400" u="none" cap="none" strike="noStrike">
              <a:solidFill>
                <a:srgbClr val="2F3F3D"/>
              </a:solidFill>
              <a:latin typeface="Nunito"/>
              <a:ea typeface="Nunito"/>
              <a:cs typeface="Nunito"/>
              <a:sym typeface="Nunito"/>
            </a:endParaRPr>
          </a:p>
        </p:txBody>
      </p:sp>
      <p:sp>
        <p:nvSpPr>
          <p:cNvPr id="159" name="Google Shape;159;p5"/>
          <p:cNvSpPr txBox="1"/>
          <p:nvPr/>
        </p:nvSpPr>
        <p:spPr>
          <a:xfrm>
            <a:off x="4354300" y="2119924"/>
            <a:ext cx="3297900" cy="4118100"/>
          </a:xfrm>
          <a:prstGeom prst="rect">
            <a:avLst/>
          </a:prstGeom>
          <a:noFill/>
          <a:ln>
            <a:noFill/>
          </a:ln>
        </p:spPr>
        <p:txBody>
          <a:bodyPr anchorCtr="0" anchor="t" bIns="45700" lIns="91425" spcFirstLastPara="1" rIns="91425" wrap="square" tIns="45700">
            <a:noAutofit/>
          </a:bodyPr>
          <a:lstStyle/>
          <a:p>
            <a:pPr indent="0" lvl="0" marL="0" marR="0" rtl="0" algn="just">
              <a:lnSpc>
                <a:spcPct val="140000"/>
              </a:lnSpc>
              <a:spcBef>
                <a:spcPts val="0"/>
              </a:spcBef>
              <a:spcAft>
                <a:spcPts val="0"/>
              </a:spcAft>
              <a:buClr>
                <a:srgbClr val="56554D"/>
              </a:buClr>
              <a:buSzPts val="1200"/>
              <a:buFont typeface="Nunito"/>
              <a:buNone/>
            </a:pPr>
            <a:r>
              <a:rPr lang="pt-PT">
                <a:solidFill>
                  <a:srgbClr val="56554D"/>
                </a:solidFill>
                <a:latin typeface="Nunito"/>
                <a:ea typeface="Nunito"/>
                <a:cs typeface="Nunito"/>
                <a:sym typeface="Nunito"/>
              </a:rPr>
              <a:t>O “motor de busca” da nossa aplicação será a ferramenta principal para garantir que as pessoas têm acesso às informações mais relevantes sobre serviços de saúde. Através de um filtro, os utilizadores poderão pesquisar por área da saúde, nome do médico, nome da clínica ou seguro de saúde, obtendo assim resultados personalizados com base na sua pesquisa. Para alcançar esse objetivo, pretendemos reunir e organizar toda a informação sobre seguros disponível em Portugal.</a:t>
            </a:r>
            <a:br>
              <a:rPr b="0" i="0" lang="pt-PT" u="none" cap="none" strike="noStrike">
                <a:solidFill>
                  <a:schemeClr val="dk1"/>
                </a:solidFill>
                <a:latin typeface="Nunito"/>
                <a:ea typeface="Nunito"/>
                <a:cs typeface="Nunito"/>
                <a:sym typeface="Nunito"/>
              </a:rPr>
            </a:br>
            <a:endParaRPr b="0" i="0" u="none" cap="none" strike="noStrike">
              <a:solidFill>
                <a:schemeClr val="dk1"/>
              </a:solidFill>
              <a:latin typeface="Nunito"/>
              <a:ea typeface="Nunito"/>
              <a:cs typeface="Nunito"/>
              <a:sym typeface="Nunito"/>
            </a:endParaRPr>
          </a:p>
        </p:txBody>
      </p:sp>
      <p:sp>
        <p:nvSpPr>
          <p:cNvPr id="160" name="Google Shape;160;p5"/>
          <p:cNvSpPr txBox="1"/>
          <p:nvPr/>
        </p:nvSpPr>
        <p:spPr>
          <a:xfrm>
            <a:off x="8223821" y="1715123"/>
            <a:ext cx="1547700" cy="3165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Aplicação</a:t>
            </a:r>
            <a:r>
              <a:rPr b="1" lang="pt-PT">
                <a:solidFill>
                  <a:srgbClr val="2F3F3D"/>
                </a:solidFill>
                <a:latin typeface="Nunito"/>
                <a:ea typeface="Nunito"/>
                <a:cs typeface="Nunito"/>
                <a:sym typeface="Nunito"/>
              </a:rPr>
              <a:t> </a:t>
            </a:r>
            <a:endParaRPr b="1" i="0" sz="5400" u="none" cap="none" strike="noStrike">
              <a:solidFill>
                <a:srgbClr val="2F3F3D"/>
              </a:solidFill>
              <a:latin typeface="Nunito"/>
              <a:ea typeface="Nunito"/>
              <a:cs typeface="Nunito"/>
              <a:sym typeface="Nunito"/>
            </a:endParaRPr>
          </a:p>
        </p:txBody>
      </p:sp>
      <p:sp>
        <p:nvSpPr>
          <p:cNvPr id="161" name="Google Shape;161;p5"/>
          <p:cNvSpPr txBox="1"/>
          <p:nvPr/>
        </p:nvSpPr>
        <p:spPr>
          <a:xfrm>
            <a:off x="8223825" y="2143750"/>
            <a:ext cx="3297900" cy="4118100"/>
          </a:xfrm>
          <a:prstGeom prst="rect">
            <a:avLst/>
          </a:prstGeom>
          <a:noFill/>
          <a:ln>
            <a:noFill/>
          </a:ln>
        </p:spPr>
        <p:txBody>
          <a:bodyPr anchorCtr="0" anchor="t" bIns="45700" lIns="91425" spcFirstLastPara="1" rIns="91425" wrap="square" tIns="45700">
            <a:noAutofit/>
          </a:bodyPr>
          <a:lstStyle/>
          <a:p>
            <a:pPr indent="0" lvl="0" marL="0" rtl="0" algn="just">
              <a:lnSpc>
                <a:spcPct val="16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Para</a:t>
            </a:r>
            <a:r>
              <a:rPr lang="pt-PT" sz="100">
                <a:solidFill>
                  <a:srgbClr val="56554D"/>
                </a:solidFill>
                <a:latin typeface="Nunito"/>
                <a:ea typeface="Nunito"/>
                <a:cs typeface="Nunito"/>
                <a:sym typeface="Nunito"/>
              </a:rPr>
              <a:t> </a:t>
            </a:r>
            <a:r>
              <a:rPr lang="pt-PT">
                <a:solidFill>
                  <a:srgbClr val="56554D"/>
                </a:solidFill>
                <a:latin typeface="Nunito"/>
                <a:ea typeface="Nunito"/>
                <a:cs typeface="Nunito"/>
                <a:sym typeface="Nunito"/>
              </a:rPr>
              <a:t>alcançar</a:t>
            </a:r>
            <a:r>
              <a:rPr lang="pt-PT" sz="100">
                <a:solidFill>
                  <a:srgbClr val="56554D"/>
                </a:solidFill>
                <a:latin typeface="Nunito"/>
                <a:ea typeface="Nunito"/>
                <a:cs typeface="Nunito"/>
                <a:sym typeface="Nunito"/>
              </a:rPr>
              <a:t> </a:t>
            </a:r>
            <a:r>
              <a:rPr lang="pt-PT">
                <a:solidFill>
                  <a:srgbClr val="56554D"/>
                </a:solidFill>
                <a:latin typeface="Nunito"/>
                <a:ea typeface="Nunito"/>
                <a:cs typeface="Nunito"/>
                <a:sym typeface="Nunito"/>
              </a:rPr>
              <a:t>nosso</a:t>
            </a:r>
            <a:r>
              <a:rPr lang="pt-PT" sz="100">
                <a:solidFill>
                  <a:srgbClr val="56554D"/>
                </a:solidFill>
                <a:latin typeface="Nunito"/>
                <a:ea typeface="Nunito"/>
                <a:cs typeface="Nunito"/>
                <a:sym typeface="Nunito"/>
              </a:rPr>
              <a:t> </a:t>
            </a:r>
            <a:r>
              <a:rPr lang="pt-PT">
                <a:solidFill>
                  <a:srgbClr val="56554D"/>
                </a:solidFill>
                <a:latin typeface="Nunito"/>
                <a:ea typeface="Nunito"/>
                <a:cs typeface="Nunito"/>
                <a:sym typeface="Nunito"/>
              </a:rPr>
              <a:t>objetivo, pretendemos estabelecer parcerias com todas as seguradoras em Portugal. Sugerimos um contrato que garanta a partilha de informações públicas sobre a rede de convenção, incluindo preços, comparticipações, coberturas, exclusões e planos.</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Estamos abertos a discutir as várias aplicações possíveis e tentar encontrar uma forma de celebrar uma parceria </a:t>
            </a:r>
            <a:r>
              <a:rPr lang="pt-PT">
                <a:solidFill>
                  <a:srgbClr val="56554D"/>
                </a:solidFill>
                <a:latin typeface="Nunito"/>
                <a:ea typeface="Nunito"/>
                <a:cs typeface="Nunito"/>
                <a:sym typeface="Nunito"/>
              </a:rPr>
              <a:t>conveniente e vantajosa</a:t>
            </a:r>
            <a:r>
              <a:rPr lang="pt-PT">
                <a:solidFill>
                  <a:srgbClr val="56554D"/>
                </a:solidFill>
                <a:latin typeface="Nunito"/>
                <a:ea typeface="Nunito"/>
                <a:cs typeface="Nunito"/>
                <a:sym typeface="Nunito"/>
              </a:rPr>
              <a:t> para todos.</a:t>
            </a:r>
            <a:endParaRPr>
              <a:solidFill>
                <a:srgbClr val="56554D"/>
              </a:solidFill>
              <a:latin typeface="Nunito"/>
              <a:ea typeface="Nunito"/>
              <a:cs typeface="Nunito"/>
              <a:sym typeface="Nunito"/>
            </a:endParaRPr>
          </a:p>
          <a:p>
            <a:pPr indent="0" lvl="0" marL="0" marR="0" rtl="0" algn="l">
              <a:lnSpc>
                <a:spcPct val="160000"/>
              </a:lnSpc>
              <a:spcBef>
                <a:spcPts val="0"/>
              </a:spcBef>
              <a:spcAft>
                <a:spcPts val="0"/>
              </a:spcAft>
              <a:buClr>
                <a:schemeClr val="dk1"/>
              </a:buClr>
              <a:buSzPts val="1200"/>
              <a:buFont typeface="Nunito"/>
              <a:buNone/>
            </a:pPr>
            <a:r>
              <a:t/>
            </a:r>
            <a:endParaRPr>
              <a:solidFill>
                <a:srgbClr val="56554D"/>
              </a:solidFill>
              <a:latin typeface="Nunito"/>
              <a:ea typeface="Nunito"/>
              <a:cs typeface="Nunito"/>
              <a:sym typeface="Nunito"/>
            </a:endParaRPr>
          </a:p>
        </p:txBody>
      </p:sp>
      <p:pic>
        <p:nvPicPr>
          <p:cNvPr id="162" name="Google Shape;162;p5"/>
          <p:cNvPicPr preferRelativeResize="0"/>
          <p:nvPr/>
        </p:nvPicPr>
        <p:blipFill rotWithShape="1">
          <a:blip r:embed="rId5">
            <a:alphaModFix/>
          </a:blip>
          <a:srcRect b="0" l="0" r="0" t="0"/>
          <a:stretch/>
        </p:blipFill>
        <p:spPr>
          <a:xfrm>
            <a:off x="579996" y="565530"/>
            <a:ext cx="539750" cy="5132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g2fdba227523_0_26"/>
          <p:cNvSpPr txBox="1"/>
          <p:nvPr>
            <p:ph type="ctrTitle"/>
          </p:nvPr>
        </p:nvSpPr>
        <p:spPr>
          <a:xfrm>
            <a:off x="1133658" y="582486"/>
            <a:ext cx="7989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Parceiros</a:t>
            </a:r>
            <a:endParaRPr b="1" sz="1800">
              <a:solidFill>
                <a:srgbClr val="2F3F3D"/>
              </a:solidFill>
              <a:latin typeface="Nunito"/>
              <a:ea typeface="Nunito"/>
              <a:cs typeface="Nunito"/>
              <a:sym typeface="Nunito"/>
            </a:endParaRPr>
          </a:p>
          <a:p>
            <a:pPr indent="0" lvl="0" marL="0" rtl="0" algn="l">
              <a:spcBef>
                <a:spcPts val="0"/>
              </a:spcBef>
              <a:spcAft>
                <a:spcPts val="0"/>
              </a:spcAft>
              <a:buClr>
                <a:srgbClr val="5E7370"/>
              </a:buClr>
              <a:buSzPts val="1400"/>
              <a:buFont typeface="Nunito"/>
              <a:buNone/>
            </a:pPr>
            <a:r>
              <a:t/>
            </a:r>
            <a:endParaRPr sz="1400">
              <a:latin typeface="Arial"/>
              <a:ea typeface="Arial"/>
              <a:cs typeface="Arial"/>
              <a:sym typeface="Arial"/>
            </a:endParaRPr>
          </a:p>
          <a:p>
            <a:pPr indent="0" lvl="0" marL="0" rtl="0" algn="l">
              <a:lnSpc>
                <a:spcPct val="90000"/>
              </a:lnSpc>
              <a:spcBef>
                <a:spcPts val="0"/>
              </a:spcBef>
              <a:spcAft>
                <a:spcPts val="0"/>
              </a:spcAft>
              <a:buClr>
                <a:srgbClr val="2F3F3D"/>
              </a:buClr>
              <a:buSzPts val="1800"/>
              <a:buFont typeface="Nunito"/>
              <a:buNone/>
            </a:pPr>
            <a:r>
              <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68" name="Google Shape;168;g2fdba227523_0_26"/>
          <p:cNvPicPr preferRelativeResize="0"/>
          <p:nvPr/>
        </p:nvPicPr>
        <p:blipFill rotWithShape="1">
          <a:blip r:embed="rId4">
            <a:alphaModFix/>
          </a:blip>
          <a:srcRect b="0" l="0" r="0" t="0"/>
          <a:stretch/>
        </p:blipFill>
        <p:spPr>
          <a:xfrm>
            <a:off x="10741946" y="410135"/>
            <a:ext cx="718662" cy="824088"/>
          </a:xfrm>
          <a:prstGeom prst="rect">
            <a:avLst/>
          </a:prstGeom>
          <a:noFill/>
          <a:ln>
            <a:noFill/>
          </a:ln>
        </p:spPr>
      </p:pic>
      <p:sp>
        <p:nvSpPr>
          <p:cNvPr id="169" name="Google Shape;169;g2fdba227523_0_26"/>
          <p:cNvSpPr txBox="1"/>
          <p:nvPr/>
        </p:nvSpPr>
        <p:spPr>
          <a:xfrm>
            <a:off x="8087102" y="1892300"/>
            <a:ext cx="2290800" cy="316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Como funciona?</a:t>
            </a:r>
            <a:endParaRPr b="1" i="0" sz="1500" u="none" cap="none" strike="noStrike">
              <a:solidFill>
                <a:srgbClr val="2F3F3D"/>
              </a:solidFill>
              <a:latin typeface="Nunito"/>
              <a:ea typeface="Nunito"/>
              <a:cs typeface="Nunito"/>
              <a:sym typeface="Nunito"/>
            </a:endParaRPr>
          </a:p>
        </p:txBody>
      </p:sp>
      <p:sp>
        <p:nvSpPr>
          <p:cNvPr id="170" name="Google Shape;170;g2fdba227523_0_26"/>
          <p:cNvSpPr txBox="1"/>
          <p:nvPr/>
        </p:nvSpPr>
        <p:spPr>
          <a:xfrm>
            <a:off x="614100" y="2472750"/>
            <a:ext cx="3100800" cy="3094500"/>
          </a:xfrm>
          <a:prstGeom prst="rect">
            <a:avLst/>
          </a:prstGeom>
          <a:noFill/>
          <a:ln>
            <a:noFill/>
          </a:ln>
        </p:spPr>
        <p:txBody>
          <a:bodyPr anchorCtr="0" anchor="t" bIns="45700" lIns="91425" spcFirstLastPara="1" rIns="91425" wrap="square" tIns="45700">
            <a:normAutofit/>
          </a:bodyPr>
          <a:lstStyle/>
          <a:p>
            <a:pPr indent="0" lvl="0" marL="0" rtl="0" algn="just">
              <a:lnSpc>
                <a:spcPct val="16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As clínicas parceiras são estabelecimentos de saúde que desejam ampliar a sua visibilidade e conectar-se a um número maior de pacientes. Elas variam desde clínicas especializadas a centros de saúde completos, todas comprometidas com a prestação de cuidados de saúde.</a:t>
            </a:r>
            <a:endParaRPr>
              <a:solidFill>
                <a:srgbClr val="56554D"/>
              </a:solidFill>
              <a:latin typeface="Nunito"/>
              <a:ea typeface="Nunito"/>
              <a:cs typeface="Nunito"/>
              <a:sym typeface="Nunito"/>
            </a:endParaRPr>
          </a:p>
        </p:txBody>
      </p:sp>
      <p:pic>
        <p:nvPicPr>
          <p:cNvPr id="171" name="Google Shape;171;g2fdba227523_0_26"/>
          <p:cNvPicPr preferRelativeResize="0"/>
          <p:nvPr/>
        </p:nvPicPr>
        <p:blipFill rotWithShape="1">
          <a:blip r:embed="rId5">
            <a:alphaModFix/>
          </a:blip>
          <a:srcRect b="0" l="0" r="0" t="0"/>
          <a:stretch/>
        </p:blipFill>
        <p:spPr>
          <a:xfrm>
            <a:off x="580001" y="582477"/>
            <a:ext cx="499207" cy="479400"/>
          </a:xfrm>
          <a:prstGeom prst="rect">
            <a:avLst/>
          </a:prstGeom>
          <a:noFill/>
          <a:ln>
            <a:noFill/>
          </a:ln>
        </p:spPr>
      </p:pic>
      <p:sp>
        <p:nvSpPr>
          <p:cNvPr id="172" name="Google Shape;172;g2fdba227523_0_26"/>
          <p:cNvSpPr/>
          <p:nvPr/>
        </p:nvSpPr>
        <p:spPr>
          <a:xfrm>
            <a:off x="1223750" y="917725"/>
            <a:ext cx="1309200" cy="316500"/>
          </a:xfrm>
          <a:prstGeom prst="roundRect">
            <a:avLst>
              <a:gd fmla="val 16667" name="adj"/>
            </a:avLst>
          </a:prstGeom>
          <a:solidFill>
            <a:srgbClr val="E6FBFB"/>
          </a:solidFill>
          <a:ln cap="flat" cmpd="sng" w="9525">
            <a:solidFill>
              <a:srgbClr val="A6D7D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300">
                <a:solidFill>
                  <a:srgbClr val="008295"/>
                </a:solidFill>
                <a:latin typeface="Nunito SemiBold"/>
                <a:ea typeface="Nunito SemiBold"/>
                <a:cs typeface="Nunito SemiBold"/>
                <a:sym typeface="Nunito SemiBold"/>
              </a:rPr>
              <a:t>Clínicas</a:t>
            </a:r>
            <a:endParaRPr sz="1300">
              <a:solidFill>
                <a:srgbClr val="008295"/>
              </a:solidFill>
              <a:latin typeface="Nunito SemiBold"/>
              <a:ea typeface="Nunito SemiBold"/>
              <a:cs typeface="Nunito SemiBold"/>
              <a:sym typeface="Nunito SemiBold"/>
            </a:endParaRPr>
          </a:p>
        </p:txBody>
      </p:sp>
      <p:sp>
        <p:nvSpPr>
          <p:cNvPr id="173" name="Google Shape;173;g2fdba227523_0_26"/>
          <p:cNvSpPr txBox="1"/>
          <p:nvPr/>
        </p:nvSpPr>
        <p:spPr>
          <a:xfrm>
            <a:off x="614102" y="1892300"/>
            <a:ext cx="2290800" cy="316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Quem são</a:t>
            </a:r>
            <a:r>
              <a:rPr b="1" lang="pt-PT" sz="1500">
                <a:solidFill>
                  <a:srgbClr val="2F3F3D"/>
                </a:solidFill>
                <a:latin typeface="Nunito"/>
                <a:ea typeface="Nunito"/>
                <a:cs typeface="Nunito"/>
                <a:sym typeface="Nunito"/>
              </a:rPr>
              <a:t>?</a:t>
            </a:r>
            <a:endParaRPr b="1" i="0" sz="1500" u="none" cap="none" strike="noStrike">
              <a:solidFill>
                <a:srgbClr val="2F3F3D"/>
              </a:solidFill>
              <a:latin typeface="Nunito"/>
              <a:ea typeface="Nunito"/>
              <a:cs typeface="Nunito"/>
              <a:sym typeface="Nunito"/>
            </a:endParaRPr>
          </a:p>
        </p:txBody>
      </p:sp>
      <p:sp>
        <p:nvSpPr>
          <p:cNvPr id="174" name="Google Shape;174;g2fdba227523_0_26"/>
          <p:cNvSpPr txBox="1"/>
          <p:nvPr/>
        </p:nvSpPr>
        <p:spPr>
          <a:xfrm>
            <a:off x="4155600" y="1877000"/>
            <a:ext cx="3490800" cy="3471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Porque precisam da Umedicu</a:t>
            </a:r>
            <a:r>
              <a:rPr b="1" lang="pt-PT" sz="1500">
                <a:solidFill>
                  <a:srgbClr val="2F3F3D"/>
                </a:solidFill>
                <a:latin typeface="Nunito"/>
                <a:ea typeface="Nunito"/>
                <a:cs typeface="Nunito"/>
                <a:sym typeface="Nunito"/>
              </a:rPr>
              <a:t>?</a:t>
            </a:r>
            <a:endParaRPr b="1" i="0" sz="1500" u="none" cap="none" strike="noStrike">
              <a:solidFill>
                <a:srgbClr val="2F3F3D"/>
              </a:solidFill>
              <a:latin typeface="Nunito"/>
              <a:ea typeface="Nunito"/>
              <a:cs typeface="Nunito"/>
              <a:sym typeface="Nunito"/>
            </a:endParaRPr>
          </a:p>
        </p:txBody>
      </p:sp>
      <p:sp>
        <p:nvSpPr>
          <p:cNvPr id="175" name="Google Shape;175;g2fdba227523_0_26"/>
          <p:cNvSpPr txBox="1"/>
          <p:nvPr/>
        </p:nvSpPr>
        <p:spPr>
          <a:xfrm>
            <a:off x="4155600" y="2472750"/>
            <a:ext cx="3490800" cy="34743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16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As clínicas precisam de uma plataforma que simplifique a comunicação com pacientes, fornecendo informações claras e acessíveis sobre os serviços prestados, profissionais disponíveis e os seguros de saúde com os quais trabalham. Precisam também de uma solução que facilite o agendamento de consultas e que possibilite uma gestão mais eficiente dos pacientes.</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ts val="1100"/>
              <a:buFont typeface="Arial"/>
              <a:buNone/>
            </a:pPr>
            <a:r>
              <a:t/>
            </a:r>
            <a:endParaRPr>
              <a:solidFill>
                <a:srgbClr val="56554D"/>
              </a:solidFill>
              <a:latin typeface="Nunito"/>
              <a:ea typeface="Nunito"/>
              <a:cs typeface="Nunito"/>
              <a:sym typeface="Nunito"/>
            </a:endParaRPr>
          </a:p>
        </p:txBody>
      </p:sp>
      <p:sp>
        <p:nvSpPr>
          <p:cNvPr id="176" name="Google Shape;176;g2fdba227523_0_26"/>
          <p:cNvSpPr txBox="1"/>
          <p:nvPr/>
        </p:nvSpPr>
        <p:spPr>
          <a:xfrm>
            <a:off x="8087100" y="2472750"/>
            <a:ext cx="3490800" cy="38481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Oferecemos às clínicas parceiras o</a:t>
            </a:r>
            <a:r>
              <a:rPr lang="pt-PT">
                <a:solidFill>
                  <a:srgbClr val="56554D"/>
                </a:solidFill>
                <a:latin typeface="Nunito"/>
                <a:ea typeface="Nunito"/>
                <a:cs typeface="Nunito"/>
                <a:sym typeface="Nunito"/>
              </a:rPr>
              <a:t> acesso à plataforma Umedicu, que melhora a experiência do paciente, aumenta a visibilidade da clínica e facilita o processo de agendamento. Estas podem ainda destacar os seus serviços, atraindo mais pacientes e aumentando a sua base de clientes. Além disso, a nossa plataforma ajuda a reduzir os custos administrativos associados à gestão de marcações e comunicação com os pacientes.</a:t>
            </a:r>
            <a:endParaRPr>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g2fdba227523_0_44"/>
          <p:cNvSpPr txBox="1"/>
          <p:nvPr>
            <p:ph type="ctrTitle"/>
          </p:nvPr>
        </p:nvSpPr>
        <p:spPr>
          <a:xfrm>
            <a:off x="1133658" y="582486"/>
            <a:ext cx="7989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Parceiros</a:t>
            </a:r>
            <a:endParaRPr b="1" sz="1800">
              <a:solidFill>
                <a:srgbClr val="2F3F3D"/>
              </a:solidFill>
              <a:latin typeface="Nunito"/>
              <a:ea typeface="Nunito"/>
              <a:cs typeface="Nunito"/>
              <a:sym typeface="Nunito"/>
            </a:endParaRPr>
          </a:p>
          <a:p>
            <a:pPr indent="0" lvl="0" marL="0" rtl="0" algn="l">
              <a:lnSpc>
                <a:spcPct val="90000"/>
              </a:lnSpc>
              <a:spcBef>
                <a:spcPts val="0"/>
              </a:spcBef>
              <a:spcAft>
                <a:spcPts val="0"/>
              </a:spcAft>
              <a:buClr>
                <a:srgbClr val="2F3F3D"/>
              </a:buClr>
              <a:buSzPts val="1800"/>
              <a:buFont typeface="Nunito"/>
              <a:buNone/>
            </a:pPr>
            <a:r>
              <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82" name="Google Shape;182;g2fdba227523_0_44"/>
          <p:cNvPicPr preferRelativeResize="0"/>
          <p:nvPr/>
        </p:nvPicPr>
        <p:blipFill rotWithShape="1">
          <a:blip r:embed="rId4">
            <a:alphaModFix/>
          </a:blip>
          <a:srcRect b="0" l="0" r="0" t="0"/>
          <a:stretch/>
        </p:blipFill>
        <p:spPr>
          <a:xfrm>
            <a:off x="10741946" y="410135"/>
            <a:ext cx="718662" cy="824088"/>
          </a:xfrm>
          <a:prstGeom prst="rect">
            <a:avLst/>
          </a:prstGeom>
          <a:noFill/>
          <a:ln>
            <a:noFill/>
          </a:ln>
        </p:spPr>
      </p:pic>
      <p:pic>
        <p:nvPicPr>
          <p:cNvPr id="183" name="Google Shape;183;g2fdba227523_0_44"/>
          <p:cNvPicPr preferRelativeResize="0"/>
          <p:nvPr/>
        </p:nvPicPr>
        <p:blipFill rotWithShape="1">
          <a:blip r:embed="rId5">
            <a:alphaModFix/>
          </a:blip>
          <a:srcRect b="0" l="0" r="0" t="0"/>
          <a:stretch/>
        </p:blipFill>
        <p:spPr>
          <a:xfrm>
            <a:off x="580001" y="582477"/>
            <a:ext cx="499207" cy="479400"/>
          </a:xfrm>
          <a:prstGeom prst="rect">
            <a:avLst/>
          </a:prstGeom>
          <a:noFill/>
          <a:ln>
            <a:noFill/>
          </a:ln>
        </p:spPr>
      </p:pic>
      <p:sp>
        <p:nvSpPr>
          <p:cNvPr id="184" name="Google Shape;184;g2fdba227523_0_44"/>
          <p:cNvSpPr/>
          <p:nvPr/>
        </p:nvSpPr>
        <p:spPr>
          <a:xfrm>
            <a:off x="1189425" y="968500"/>
            <a:ext cx="1821900" cy="347100"/>
          </a:xfrm>
          <a:prstGeom prst="roundRect">
            <a:avLst>
              <a:gd fmla="val 16667" name="adj"/>
            </a:avLst>
          </a:prstGeom>
          <a:solidFill>
            <a:srgbClr val="F9F2F5"/>
          </a:solidFill>
          <a:ln cap="flat" cmpd="sng" w="9525">
            <a:solidFill>
              <a:srgbClr val="EC548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200">
                <a:solidFill>
                  <a:srgbClr val="E4025B"/>
                </a:solidFill>
                <a:latin typeface="Nunito SemiBold"/>
                <a:ea typeface="Nunito SemiBold"/>
                <a:cs typeface="Nunito SemiBold"/>
                <a:sym typeface="Nunito SemiBold"/>
              </a:rPr>
              <a:t>Profissionais de Saúde</a:t>
            </a:r>
            <a:endParaRPr sz="1200">
              <a:solidFill>
                <a:srgbClr val="E4025B"/>
              </a:solidFill>
              <a:latin typeface="Nunito SemiBold"/>
              <a:ea typeface="Nunito SemiBold"/>
              <a:cs typeface="Nunito SemiBold"/>
              <a:sym typeface="Nunito SemiBold"/>
            </a:endParaRPr>
          </a:p>
        </p:txBody>
      </p:sp>
      <p:sp>
        <p:nvSpPr>
          <p:cNvPr id="185" name="Google Shape;185;g2fdba227523_0_44"/>
          <p:cNvSpPr txBox="1"/>
          <p:nvPr/>
        </p:nvSpPr>
        <p:spPr>
          <a:xfrm>
            <a:off x="8087102" y="1740050"/>
            <a:ext cx="2290800" cy="316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Como funciona?</a:t>
            </a:r>
            <a:endParaRPr b="1" i="0" sz="1500" u="none" cap="none" strike="noStrike">
              <a:solidFill>
                <a:srgbClr val="2F3F3D"/>
              </a:solidFill>
              <a:latin typeface="Nunito"/>
              <a:ea typeface="Nunito"/>
              <a:cs typeface="Nunito"/>
              <a:sym typeface="Nunito"/>
            </a:endParaRPr>
          </a:p>
        </p:txBody>
      </p:sp>
      <p:sp>
        <p:nvSpPr>
          <p:cNvPr id="186" name="Google Shape;186;g2fdba227523_0_44"/>
          <p:cNvSpPr txBox="1"/>
          <p:nvPr/>
        </p:nvSpPr>
        <p:spPr>
          <a:xfrm>
            <a:off x="614100" y="2320500"/>
            <a:ext cx="3100800" cy="4192800"/>
          </a:xfrm>
          <a:prstGeom prst="rect">
            <a:avLst/>
          </a:prstGeom>
          <a:noFill/>
          <a:ln>
            <a:noFill/>
          </a:ln>
        </p:spPr>
        <p:txBody>
          <a:bodyPr anchorCtr="0" anchor="t" bIns="45700" lIns="91425" spcFirstLastPara="1" rIns="91425" wrap="square" tIns="45700">
            <a:normAutofit/>
          </a:bodyPr>
          <a:lstStyle/>
          <a:p>
            <a:pPr indent="0" lvl="0" marL="0" rtl="0" algn="just">
              <a:lnSpc>
                <a:spcPct val="16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Os nossos parceiros profissionais de saúde</a:t>
            </a:r>
            <a:r>
              <a:rPr lang="pt-PT" sz="1300">
                <a:solidFill>
                  <a:srgbClr val="56554D"/>
                </a:solidFill>
                <a:latin typeface="Nunito"/>
                <a:ea typeface="Nunito"/>
                <a:cs typeface="Nunito"/>
                <a:sym typeface="Nunito"/>
              </a:rPr>
              <a:t> </a:t>
            </a:r>
            <a:r>
              <a:rPr lang="pt-PT">
                <a:solidFill>
                  <a:srgbClr val="56554D"/>
                </a:solidFill>
                <a:latin typeface="Nunito"/>
                <a:ea typeface="Nunito"/>
                <a:cs typeface="Nunito"/>
                <a:sym typeface="Nunito"/>
              </a:rPr>
              <a:t>incluem médicos, enfermeiros, fisioterapeutas, psicólogos e todos os especialistas que desejam expandir a sua prática e alcançar mais pacientes. Geralmente, estarão à procura de novas formas de melhorar a acessibilidade aos seus serviços.</a:t>
            </a:r>
            <a:endParaRPr>
              <a:solidFill>
                <a:srgbClr val="56554D"/>
              </a:solidFill>
              <a:latin typeface="Nunito"/>
              <a:ea typeface="Nunito"/>
              <a:cs typeface="Nunito"/>
              <a:sym typeface="Nunito"/>
            </a:endParaRPr>
          </a:p>
        </p:txBody>
      </p:sp>
      <p:sp>
        <p:nvSpPr>
          <p:cNvPr id="187" name="Google Shape;187;g2fdba227523_0_44"/>
          <p:cNvSpPr txBox="1"/>
          <p:nvPr/>
        </p:nvSpPr>
        <p:spPr>
          <a:xfrm>
            <a:off x="614102" y="1740050"/>
            <a:ext cx="2290800" cy="316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Quem são?</a:t>
            </a:r>
            <a:endParaRPr b="1" i="0" sz="1500" u="none" cap="none" strike="noStrike">
              <a:solidFill>
                <a:srgbClr val="2F3F3D"/>
              </a:solidFill>
              <a:latin typeface="Nunito"/>
              <a:ea typeface="Nunito"/>
              <a:cs typeface="Nunito"/>
              <a:sym typeface="Nunito"/>
            </a:endParaRPr>
          </a:p>
        </p:txBody>
      </p:sp>
      <p:sp>
        <p:nvSpPr>
          <p:cNvPr id="188" name="Google Shape;188;g2fdba227523_0_44"/>
          <p:cNvSpPr txBox="1"/>
          <p:nvPr/>
        </p:nvSpPr>
        <p:spPr>
          <a:xfrm>
            <a:off x="4155600" y="1724750"/>
            <a:ext cx="3490800" cy="3471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2F3F3D"/>
              </a:buClr>
              <a:buSzPts val="1400"/>
              <a:buFont typeface="Nunito"/>
              <a:buNone/>
            </a:pPr>
            <a:r>
              <a:rPr b="1" lang="pt-PT" sz="1500">
                <a:solidFill>
                  <a:srgbClr val="2F3F3D"/>
                </a:solidFill>
                <a:latin typeface="Nunito"/>
                <a:ea typeface="Nunito"/>
                <a:cs typeface="Nunito"/>
                <a:sym typeface="Nunito"/>
              </a:rPr>
              <a:t>Porque precisam da Umedicu?</a:t>
            </a:r>
            <a:endParaRPr b="1" i="0" sz="1500" u="none" cap="none" strike="noStrike">
              <a:solidFill>
                <a:srgbClr val="2F3F3D"/>
              </a:solidFill>
              <a:latin typeface="Nunito"/>
              <a:ea typeface="Nunito"/>
              <a:cs typeface="Nunito"/>
              <a:sym typeface="Nunito"/>
            </a:endParaRPr>
          </a:p>
        </p:txBody>
      </p:sp>
      <p:sp>
        <p:nvSpPr>
          <p:cNvPr id="189" name="Google Shape;189;g2fdba227523_0_44"/>
          <p:cNvSpPr txBox="1"/>
          <p:nvPr/>
        </p:nvSpPr>
        <p:spPr>
          <a:xfrm>
            <a:off x="4155600" y="2320500"/>
            <a:ext cx="3490800" cy="41928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160000"/>
              </a:lnSpc>
              <a:spcBef>
                <a:spcPts val="0"/>
              </a:spcBef>
              <a:spcAft>
                <a:spcPts val="0"/>
              </a:spcAft>
              <a:buClr>
                <a:schemeClr val="dk1"/>
              </a:buClr>
              <a:buSzPts val="1100"/>
              <a:buFont typeface="Arial"/>
              <a:buNone/>
            </a:pPr>
            <a:r>
              <a:rPr lang="pt-PT">
                <a:solidFill>
                  <a:srgbClr val="56554D"/>
                </a:solidFill>
                <a:latin typeface="Nunito"/>
                <a:ea typeface="Nunito"/>
                <a:cs typeface="Nunito"/>
                <a:sym typeface="Nunito"/>
              </a:rPr>
              <a:t>Os profissionais de saúde precisam de uma plataforma que lhes permita gerir a sua agenda de forma eficiente, divulgar os seus serviços e conectar-se com pacientes que procuram os seus cuidados. Precisam também de uma forma simplificada de comunicar os seguros de saúde com os quais têm parcerias, facilitando a escolha dos pacientes. Desta forma, terão pela primeira vez uma plataforma que lhes permita fazer serviços “extra” onde sabem que podem encontrar novos pacientes.</a:t>
            </a:r>
            <a:endParaRPr>
              <a:solidFill>
                <a:srgbClr val="56554D"/>
              </a:solidFill>
              <a:latin typeface="Nunito"/>
              <a:ea typeface="Nunito"/>
              <a:cs typeface="Nunito"/>
              <a:sym typeface="Nunito"/>
            </a:endParaRPr>
          </a:p>
        </p:txBody>
      </p:sp>
      <p:sp>
        <p:nvSpPr>
          <p:cNvPr id="190" name="Google Shape;190;g2fdba227523_0_44"/>
          <p:cNvSpPr txBox="1"/>
          <p:nvPr/>
        </p:nvSpPr>
        <p:spPr>
          <a:xfrm>
            <a:off x="8087100" y="2320500"/>
            <a:ext cx="3490800" cy="41928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None/>
            </a:pPr>
            <a:r>
              <a:rPr lang="pt-PT">
                <a:solidFill>
                  <a:srgbClr val="56554D"/>
                </a:solidFill>
                <a:latin typeface="Nunito"/>
                <a:ea typeface="Nunito"/>
                <a:cs typeface="Nunito"/>
                <a:sym typeface="Nunito"/>
              </a:rPr>
              <a:t>Ao aderirem à Umedicu, os profissionais de saúde beneficiam de mais visibilidade e acesso a uma rede de pacientes mais ampla. A plataforma facilita a gestão de consultas, permite-lhes </a:t>
            </a:r>
            <a:r>
              <a:rPr lang="pt-PT">
                <a:solidFill>
                  <a:srgbClr val="56554D"/>
                </a:solidFill>
                <a:latin typeface="Nunito"/>
                <a:ea typeface="Nunito"/>
                <a:cs typeface="Nunito"/>
                <a:sym typeface="Nunito"/>
              </a:rPr>
              <a:t>destacar os seus serviços</a:t>
            </a:r>
            <a:r>
              <a:rPr lang="pt-PT">
                <a:solidFill>
                  <a:srgbClr val="56554D"/>
                </a:solidFill>
                <a:latin typeface="Nunito"/>
                <a:ea typeface="Nunito"/>
                <a:cs typeface="Nunito"/>
                <a:sym typeface="Nunito"/>
              </a:rPr>
              <a:t>, e oferece ferramentas para melhorar gestão das suas agendas. Além disso, a Umedicu simplifica o processo de partilha de informações, ajudando os profissionais a focar-se mais na prestação de cuidados e menos nas tarefas administrativas.</a:t>
            </a:r>
            <a:endParaRPr>
              <a:solidFill>
                <a:srgbClr val="56554D"/>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g2fdba227523_0_104"/>
          <p:cNvSpPr txBox="1"/>
          <p:nvPr>
            <p:ph type="ctrTitle"/>
          </p:nvPr>
        </p:nvSpPr>
        <p:spPr>
          <a:xfrm>
            <a:off x="1195625" y="634375"/>
            <a:ext cx="7989000" cy="375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1800"/>
              <a:buFont typeface="Nunito"/>
              <a:buNone/>
            </a:pPr>
            <a:r>
              <a:rPr b="1" lang="pt-PT" sz="1800">
                <a:solidFill>
                  <a:srgbClr val="2F3F3D"/>
                </a:solidFill>
                <a:latin typeface="Nunito"/>
                <a:ea typeface="Nunito"/>
                <a:cs typeface="Nunito"/>
                <a:sym typeface="Nunito"/>
              </a:rPr>
              <a:t>Quem somos?</a:t>
            </a:r>
            <a:endParaRPr b="1" sz="1800">
              <a:solidFill>
                <a:srgbClr val="2F3F3D"/>
              </a:solidFill>
              <a:latin typeface="Nunito"/>
              <a:ea typeface="Nunito"/>
              <a:cs typeface="Nunito"/>
              <a:sym typeface="Nunito"/>
            </a:endParaRPr>
          </a:p>
        </p:txBody>
      </p:sp>
      <p:pic>
        <p:nvPicPr>
          <p:cNvPr descr="Uma imagem com Gráficos, logótipo, design gráfico, Tipo de letra&#10;&#10;Descrição gerada automaticamente" id="196" name="Google Shape;196;g2fdba227523_0_104"/>
          <p:cNvPicPr preferRelativeResize="0"/>
          <p:nvPr/>
        </p:nvPicPr>
        <p:blipFill rotWithShape="1">
          <a:blip r:embed="rId4">
            <a:alphaModFix/>
          </a:blip>
          <a:srcRect b="0" l="0" r="0" t="0"/>
          <a:stretch/>
        </p:blipFill>
        <p:spPr>
          <a:xfrm>
            <a:off x="10741946" y="410135"/>
            <a:ext cx="718662" cy="824088"/>
          </a:xfrm>
          <a:prstGeom prst="rect">
            <a:avLst/>
          </a:prstGeom>
          <a:noFill/>
          <a:ln>
            <a:noFill/>
          </a:ln>
        </p:spPr>
      </p:pic>
      <p:pic>
        <p:nvPicPr>
          <p:cNvPr id="197" name="Google Shape;197;g2fdba227523_0_104"/>
          <p:cNvPicPr preferRelativeResize="0"/>
          <p:nvPr/>
        </p:nvPicPr>
        <p:blipFill rotWithShape="1">
          <a:blip r:embed="rId5">
            <a:alphaModFix/>
          </a:blip>
          <a:srcRect b="0" l="0" r="0" t="0"/>
          <a:stretch/>
        </p:blipFill>
        <p:spPr>
          <a:xfrm>
            <a:off x="6342650" y="1421075"/>
            <a:ext cx="1295958" cy="1291725"/>
          </a:xfrm>
          <a:prstGeom prst="rect">
            <a:avLst/>
          </a:prstGeom>
          <a:noFill/>
          <a:ln>
            <a:noFill/>
          </a:ln>
        </p:spPr>
      </p:pic>
      <p:pic>
        <p:nvPicPr>
          <p:cNvPr id="198" name="Google Shape;198;g2fdba227523_0_104"/>
          <p:cNvPicPr preferRelativeResize="0"/>
          <p:nvPr/>
        </p:nvPicPr>
        <p:blipFill rotWithShape="1">
          <a:blip r:embed="rId6">
            <a:alphaModFix/>
          </a:blip>
          <a:srcRect b="0" l="0" r="0" t="0"/>
          <a:stretch/>
        </p:blipFill>
        <p:spPr>
          <a:xfrm>
            <a:off x="813225" y="1484350"/>
            <a:ext cx="1232475" cy="1228450"/>
          </a:xfrm>
          <a:prstGeom prst="rect">
            <a:avLst/>
          </a:prstGeom>
          <a:noFill/>
          <a:ln>
            <a:noFill/>
          </a:ln>
        </p:spPr>
      </p:pic>
      <p:sp>
        <p:nvSpPr>
          <p:cNvPr id="199" name="Google Shape;199;g2fdba227523_0_104"/>
          <p:cNvSpPr txBox="1"/>
          <p:nvPr/>
        </p:nvSpPr>
        <p:spPr>
          <a:xfrm>
            <a:off x="2266150" y="1484350"/>
            <a:ext cx="3342600" cy="15681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2400">
                <a:solidFill>
                  <a:srgbClr val="2F3F3D"/>
                </a:solidFill>
                <a:latin typeface="Nunito"/>
                <a:ea typeface="Nunito"/>
                <a:cs typeface="Nunito"/>
                <a:sym typeface="Nunito"/>
              </a:rPr>
              <a:t>José Pais </a:t>
            </a:r>
            <a:endParaRPr b="1" sz="2400">
              <a:solidFill>
                <a:srgbClr val="2F3F3D"/>
              </a:solidFill>
              <a:latin typeface="Nunito"/>
              <a:ea typeface="Nunito"/>
              <a:cs typeface="Nunito"/>
              <a:sym typeface="Nunito"/>
            </a:endParaRPr>
          </a:p>
          <a:p>
            <a:pPr indent="0" lvl="0" marL="0" marR="0" rtl="0" algn="l">
              <a:lnSpc>
                <a:spcPct val="90000"/>
              </a:lnSpc>
              <a:spcBef>
                <a:spcPts val="0"/>
              </a:spcBef>
              <a:spcAft>
                <a:spcPts val="0"/>
              </a:spcAft>
              <a:buClr>
                <a:srgbClr val="2F3F3D"/>
              </a:buClr>
              <a:buSzPts val="1400"/>
              <a:buFont typeface="Nunito"/>
              <a:buNone/>
            </a:pPr>
            <a:r>
              <a:rPr b="1" lang="pt-PT">
                <a:solidFill>
                  <a:srgbClr val="2F3F3D"/>
                </a:solidFill>
                <a:latin typeface="Nunito"/>
                <a:ea typeface="Nunito"/>
                <a:cs typeface="Nunito"/>
                <a:sym typeface="Nunito"/>
              </a:rPr>
              <a:t>Médico, f</a:t>
            </a:r>
            <a:r>
              <a:rPr b="1" lang="pt-PT">
                <a:solidFill>
                  <a:srgbClr val="2F3F3D"/>
                </a:solidFill>
                <a:latin typeface="Nunito"/>
                <a:ea typeface="Nunito"/>
                <a:cs typeface="Nunito"/>
                <a:sym typeface="Nunito"/>
              </a:rPr>
              <a:t>undador e CEO</a:t>
            </a:r>
            <a:endParaRPr b="1">
              <a:solidFill>
                <a:srgbClr val="2F3F3D"/>
              </a:solidFill>
              <a:latin typeface="Nunito"/>
              <a:ea typeface="Nunito"/>
              <a:cs typeface="Nunito"/>
              <a:sym typeface="Nunito"/>
            </a:endParaRPr>
          </a:p>
          <a:p>
            <a:pPr indent="0" lvl="0" marL="0" marR="0" rtl="0" algn="l">
              <a:lnSpc>
                <a:spcPct val="90000"/>
              </a:lnSpc>
              <a:spcBef>
                <a:spcPts val="0"/>
              </a:spcBef>
              <a:spcAft>
                <a:spcPts val="0"/>
              </a:spcAft>
              <a:buClr>
                <a:srgbClr val="2F3F3D"/>
              </a:buClr>
              <a:buSzPts val="1400"/>
              <a:buFont typeface="Nunito"/>
              <a:buNone/>
            </a:pPr>
            <a:r>
              <a:t/>
            </a:r>
            <a:endParaRPr b="1">
              <a:solidFill>
                <a:srgbClr val="2F3F3D"/>
              </a:solidFill>
              <a:latin typeface="Nunito"/>
              <a:ea typeface="Nunito"/>
              <a:cs typeface="Nunito"/>
              <a:sym typeface="Nunito"/>
            </a:endParaRPr>
          </a:p>
          <a:p>
            <a:pPr indent="0" lvl="0" marL="0" rtl="0" algn="just">
              <a:lnSpc>
                <a:spcPct val="140000"/>
              </a:lnSpc>
              <a:spcBef>
                <a:spcPts val="0"/>
              </a:spcBef>
              <a:spcAft>
                <a:spcPts val="0"/>
              </a:spcAft>
              <a:buClr>
                <a:srgbClr val="56554D"/>
              </a:buClr>
              <a:buSzPts val="1200"/>
              <a:buFont typeface="Nunito"/>
              <a:buNone/>
            </a:pPr>
            <a:r>
              <a:rPr lang="pt-PT" sz="1200">
                <a:solidFill>
                  <a:srgbClr val="56554D"/>
                </a:solidFill>
                <a:latin typeface="Nunito"/>
                <a:ea typeface="Nunito"/>
                <a:cs typeface="Nunito"/>
                <a:sym typeface="Nunito"/>
              </a:rPr>
              <a:t>“Quero</a:t>
            </a:r>
            <a:r>
              <a:rPr lang="pt-PT" sz="1200">
                <a:solidFill>
                  <a:srgbClr val="56554D"/>
                </a:solidFill>
                <a:latin typeface="Nunito"/>
                <a:ea typeface="Nunito"/>
                <a:cs typeface="Nunito"/>
                <a:sym typeface="Nunito"/>
              </a:rPr>
              <a:t> criar em Portugal a solução centralizada da saúde que há muito tempo faltava.”</a:t>
            </a:r>
            <a:endParaRPr b="1">
              <a:solidFill>
                <a:srgbClr val="2F3F3D"/>
              </a:solidFill>
              <a:latin typeface="Nunito"/>
              <a:ea typeface="Nunito"/>
              <a:cs typeface="Nunito"/>
              <a:sym typeface="Nunito"/>
            </a:endParaRPr>
          </a:p>
        </p:txBody>
      </p:sp>
      <p:sp>
        <p:nvSpPr>
          <p:cNvPr id="200" name="Google Shape;200;g2fdba227523_0_104"/>
          <p:cNvSpPr txBox="1"/>
          <p:nvPr/>
        </p:nvSpPr>
        <p:spPr>
          <a:xfrm>
            <a:off x="8036150" y="1484352"/>
            <a:ext cx="3342600" cy="15681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2400">
                <a:solidFill>
                  <a:srgbClr val="2F3F3D"/>
                </a:solidFill>
                <a:latin typeface="Nunito"/>
                <a:ea typeface="Nunito"/>
                <a:cs typeface="Nunito"/>
                <a:sym typeface="Nunito"/>
              </a:rPr>
              <a:t>Guilherme Fernandes</a:t>
            </a:r>
            <a:endParaRPr b="1" sz="2400">
              <a:solidFill>
                <a:srgbClr val="2F3F3D"/>
              </a:solidFill>
              <a:latin typeface="Nunito"/>
              <a:ea typeface="Nunito"/>
              <a:cs typeface="Nunito"/>
              <a:sym typeface="Nunito"/>
            </a:endParaRPr>
          </a:p>
          <a:p>
            <a:pPr indent="0" lvl="0" marL="0" marR="0" rtl="0" algn="l">
              <a:lnSpc>
                <a:spcPct val="90000"/>
              </a:lnSpc>
              <a:spcBef>
                <a:spcPts val="0"/>
              </a:spcBef>
              <a:spcAft>
                <a:spcPts val="0"/>
              </a:spcAft>
              <a:buClr>
                <a:srgbClr val="2F3F3D"/>
              </a:buClr>
              <a:buSzPts val="1400"/>
              <a:buFont typeface="Nunito"/>
              <a:buNone/>
            </a:pPr>
            <a:r>
              <a:rPr b="1" lang="pt-PT">
                <a:solidFill>
                  <a:srgbClr val="2F3F3D"/>
                </a:solidFill>
                <a:latin typeface="Nunito"/>
                <a:ea typeface="Nunito"/>
                <a:cs typeface="Nunito"/>
                <a:sym typeface="Nunito"/>
              </a:rPr>
              <a:t>Empreendedor e COO</a:t>
            </a:r>
            <a:endParaRPr b="1">
              <a:solidFill>
                <a:srgbClr val="2F3F3D"/>
              </a:solidFill>
              <a:latin typeface="Nunito"/>
              <a:ea typeface="Nunito"/>
              <a:cs typeface="Nunito"/>
              <a:sym typeface="Nunito"/>
            </a:endParaRPr>
          </a:p>
          <a:p>
            <a:pPr indent="0" lvl="0" marL="0" marR="0" rtl="0" algn="just">
              <a:lnSpc>
                <a:spcPct val="90000"/>
              </a:lnSpc>
              <a:spcBef>
                <a:spcPts val="0"/>
              </a:spcBef>
              <a:spcAft>
                <a:spcPts val="0"/>
              </a:spcAft>
              <a:buClr>
                <a:srgbClr val="2F3F3D"/>
              </a:buClr>
              <a:buSzPts val="1400"/>
              <a:buFont typeface="Nunito"/>
              <a:buNone/>
            </a:pPr>
            <a:r>
              <a:t/>
            </a:r>
            <a:endParaRPr b="1">
              <a:solidFill>
                <a:srgbClr val="2F3F3D"/>
              </a:solidFill>
              <a:latin typeface="Nunito"/>
              <a:ea typeface="Nunito"/>
              <a:cs typeface="Nunito"/>
              <a:sym typeface="Nunito"/>
            </a:endParaRPr>
          </a:p>
          <a:p>
            <a:pPr indent="0" lvl="0" marL="0" rtl="0" algn="just">
              <a:lnSpc>
                <a:spcPct val="140000"/>
              </a:lnSpc>
              <a:spcBef>
                <a:spcPts val="0"/>
              </a:spcBef>
              <a:spcAft>
                <a:spcPts val="0"/>
              </a:spcAft>
              <a:buClr>
                <a:srgbClr val="56554D"/>
              </a:buClr>
              <a:buSzPts val="1200"/>
              <a:buFont typeface="Nunito"/>
              <a:buNone/>
            </a:pPr>
            <a:r>
              <a:rPr lang="pt-PT" sz="1200">
                <a:solidFill>
                  <a:srgbClr val="56554D"/>
                </a:solidFill>
                <a:latin typeface="Nunito"/>
                <a:ea typeface="Nunito"/>
                <a:cs typeface="Nunito"/>
                <a:sym typeface="Nunito"/>
              </a:rPr>
              <a:t>“Juntos podemos tornar a Umedicu a app essencial para a saúde dos pacientes portugueses”</a:t>
            </a:r>
            <a:endParaRPr b="1">
              <a:solidFill>
                <a:srgbClr val="2F3F3D"/>
              </a:solidFill>
              <a:latin typeface="Nunito"/>
              <a:ea typeface="Nunito"/>
              <a:cs typeface="Nunito"/>
              <a:sym typeface="Nunito"/>
            </a:endParaRPr>
          </a:p>
        </p:txBody>
      </p:sp>
      <p:sp>
        <p:nvSpPr>
          <p:cNvPr id="201" name="Google Shape;201;g2fdba227523_0_104"/>
          <p:cNvSpPr txBox="1"/>
          <p:nvPr/>
        </p:nvSpPr>
        <p:spPr>
          <a:xfrm>
            <a:off x="668575" y="3239200"/>
            <a:ext cx="5036100" cy="3504900"/>
          </a:xfrm>
          <a:prstGeom prst="rect">
            <a:avLst/>
          </a:prstGeom>
          <a:noFill/>
          <a:ln>
            <a:noFill/>
          </a:ln>
        </p:spPr>
        <p:txBody>
          <a:bodyPr anchorCtr="0" anchor="t" bIns="45700" lIns="91425" spcFirstLastPara="1" rIns="91425" wrap="square" tIns="45700">
            <a:normAutofit fontScale="70000"/>
          </a:bodyPr>
          <a:lstStyle/>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A ideia para este projeto surgiu à medida de que avançava no meu curso de Medicina. Ao contactar com a realidade clínica, apercebi-me que por falta de um registo médico centralizado e universal, os pacientes têm os seus registos médicos electrónicos dispersos e muitas vezes inacessíveis.</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Existe uma dificuldade acrescida de acesso a cuidados de saúde, não só pela escassez de prestadores, mas também pela ausência de um local de pesquisa único, dedicado exclusivamente à saúde. Isto contribui para um acompanhamento ineficaz do paciente, levando a uma má gestão de recursos e consequente falta de igualdade no acesso aos cuidados de saúde. Assim nasceu a Umedicu, com a visão de garantir que todos conseguem ter acesso aos seu registos médicos electrónicos, </a:t>
            </a:r>
            <a:r>
              <a:rPr lang="pt-PT">
                <a:solidFill>
                  <a:srgbClr val="56554D"/>
                </a:solidFill>
                <a:latin typeface="Nunito"/>
                <a:ea typeface="Nunito"/>
                <a:cs typeface="Nunito"/>
                <a:sym typeface="Nunito"/>
              </a:rPr>
              <a:t>arquivá</a:t>
            </a:r>
            <a:r>
              <a:rPr lang="pt-PT">
                <a:solidFill>
                  <a:srgbClr val="56554D"/>
                </a:solidFill>
                <a:latin typeface="Nunito"/>
                <a:ea typeface="Nunito"/>
                <a:cs typeface="Nunito"/>
                <a:sym typeface="Nunito"/>
              </a:rPr>
              <a:t>-los de forma simples e </a:t>
            </a:r>
            <a:r>
              <a:rPr lang="pt-PT">
                <a:solidFill>
                  <a:srgbClr val="56554D"/>
                </a:solidFill>
                <a:latin typeface="Nunito"/>
                <a:ea typeface="Nunito"/>
                <a:cs typeface="Nunito"/>
                <a:sym typeface="Nunito"/>
              </a:rPr>
              <a:t>interpretável</a:t>
            </a:r>
            <a:r>
              <a:rPr lang="pt-PT">
                <a:solidFill>
                  <a:srgbClr val="56554D"/>
                </a:solidFill>
                <a:latin typeface="Nunito"/>
                <a:ea typeface="Nunito"/>
                <a:cs typeface="Nunito"/>
                <a:sym typeface="Nunito"/>
              </a:rPr>
              <a:t> e ainda partilhá-los com quem desejam. Da mesma forma, oferecemos uma ferramenta de pesquisa de cuidados de saúde que permite encontrar o profissional indicado, no local desejado, na hora ideal, agilizando o processo de procura e marcação dos mesmos. Façam parte desta mudança connosco!</a:t>
            </a:r>
            <a:endParaRPr>
              <a:solidFill>
                <a:srgbClr val="56554D"/>
              </a:solidFill>
              <a:latin typeface="Nunito"/>
              <a:ea typeface="Nunito"/>
              <a:cs typeface="Nunito"/>
              <a:sym typeface="Nunito"/>
            </a:endParaRPr>
          </a:p>
        </p:txBody>
      </p:sp>
      <p:sp>
        <p:nvSpPr>
          <p:cNvPr id="202" name="Google Shape;202;g2fdba227523_0_104"/>
          <p:cNvSpPr txBox="1"/>
          <p:nvPr/>
        </p:nvSpPr>
        <p:spPr>
          <a:xfrm>
            <a:off x="6339225" y="3239300"/>
            <a:ext cx="5036100" cy="35049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A convite do José, decidi juntar-me ao projeto Umedicu. Após criar a minha primeira startup no estrangeiro, estou muito entusiasmado por regressar a Portugal, desta vez para dar vida a algo necessário e inovador no setor da saúde. </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Para que possamos oferecer os melhores serviços, precisamos de ter connosco os parceiros mais adequados, que entreguem à Umedicu e aos pacientes portugueses o melhor que têm para oferecer. </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Este não é apenas mais um projeto na área da saúde, este é o projeto de que os portugueses,, os profissionais e as clínicas necessitam para dar um passo em frente na inovação e no acesso aos seus cuidados de saúde.</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Mal posso esperar para que possam ver e aproveitar o que temos estado a preparar nos últimos meses.  </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Uma app, toda a sua saúde!</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ct val="78571"/>
              <a:buFont typeface="Arial"/>
              <a:buNone/>
            </a:pPr>
            <a:r>
              <a:rPr lang="pt-PT">
                <a:solidFill>
                  <a:srgbClr val="56554D"/>
                </a:solidFill>
                <a:latin typeface="Nunito"/>
                <a:ea typeface="Nunito"/>
                <a:cs typeface="Nunito"/>
                <a:sym typeface="Nunito"/>
              </a:rPr>
              <a:t>Façam parte desta mudança connosco!</a:t>
            </a:r>
            <a:endParaRPr>
              <a:solidFill>
                <a:srgbClr val="56554D"/>
              </a:solidFill>
              <a:latin typeface="Nunito"/>
              <a:ea typeface="Nunito"/>
              <a:cs typeface="Nunito"/>
              <a:sym typeface="Nunito"/>
            </a:endParaRPr>
          </a:p>
          <a:p>
            <a:pPr indent="0" lvl="0" marL="0" rtl="0" algn="just">
              <a:lnSpc>
                <a:spcPct val="160000"/>
              </a:lnSpc>
              <a:spcBef>
                <a:spcPts val="0"/>
              </a:spcBef>
              <a:spcAft>
                <a:spcPts val="0"/>
              </a:spcAft>
              <a:buClr>
                <a:schemeClr val="dk1"/>
              </a:buClr>
              <a:buSzPct val="78571"/>
              <a:buFont typeface="Arial"/>
              <a:buNone/>
            </a:pPr>
            <a:r>
              <a:t/>
            </a:r>
            <a:endParaRPr>
              <a:solidFill>
                <a:srgbClr val="56554D"/>
              </a:solidFill>
              <a:latin typeface="Nunito"/>
              <a:ea typeface="Nunito"/>
              <a:cs typeface="Nunito"/>
              <a:sym typeface="Nunito"/>
            </a:endParaRPr>
          </a:p>
        </p:txBody>
      </p:sp>
      <p:pic>
        <p:nvPicPr>
          <p:cNvPr id="203" name="Google Shape;203;g2fdba227523_0_104"/>
          <p:cNvPicPr preferRelativeResize="0"/>
          <p:nvPr/>
        </p:nvPicPr>
        <p:blipFill rotWithShape="1">
          <a:blip r:embed="rId7">
            <a:alphaModFix/>
          </a:blip>
          <a:srcRect b="0" l="0" r="0" t="0"/>
          <a:stretch/>
        </p:blipFill>
        <p:spPr>
          <a:xfrm>
            <a:off x="668583" y="569772"/>
            <a:ext cx="527050" cy="504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7" name="Shape 207"/>
        <p:cNvGrpSpPr/>
        <p:nvPr/>
      </p:nvGrpSpPr>
      <p:grpSpPr>
        <a:xfrm>
          <a:off x="0" y="0"/>
          <a:ext cx="0" cy="0"/>
          <a:chOff x="0" y="0"/>
          <a:chExt cx="0" cy="0"/>
        </a:xfrm>
      </p:grpSpPr>
      <p:sp>
        <p:nvSpPr>
          <p:cNvPr id="208" name="Google Shape;208;p9"/>
          <p:cNvSpPr txBox="1"/>
          <p:nvPr>
            <p:ph type="ctrTitle"/>
          </p:nvPr>
        </p:nvSpPr>
        <p:spPr>
          <a:xfrm>
            <a:off x="786384" y="604767"/>
            <a:ext cx="9144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2000"/>
              <a:buFont typeface="Nunito"/>
              <a:buNone/>
            </a:pPr>
            <a:r>
              <a:rPr b="1" lang="pt-PT" sz="2000">
                <a:solidFill>
                  <a:srgbClr val="2F3F3D"/>
                </a:solidFill>
                <a:latin typeface="Nunito"/>
                <a:ea typeface="Nunito"/>
                <a:cs typeface="Nunito"/>
                <a:sym typeface="Nunito"/>
              </a:rPr>
              <a:t>Icons &amp; Tags</a:t>
            </a:r>
            <a:endParaRPr sz="5400">
              <a:latin typeface="Nunito"/>
              <a:ea typeface="Nunito"/>
              <a:cs typeface="Nunito"/>
              <a:sym typeface="Nunito"/>
            </a:endParaRPr>
          </a:p>
        </p:txBody>
      </p:sp>
      <p:sp>
        <p:nvSpPr>
          <p:cNvPr id="209" name="Google Shape;209;p9"/>
          <p:cNvSpPr txBox="1"/>
          <p:nvPr/>
        </p:nvSpPr>
        <p:spPr>
          <a:xfrm>
            <a:off x="807680" y="1083789"/>
            <a:ext cx="9144000" cy="35142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5E7370"/>
              </a:buClr>
              <a:buSzPts val="1600"/>
              <a:buFont typeface="Nunito"/>
              <a:buNone/>
            </a:pPr>
            <a:r>
              <a:rPr b="0" i="0" lang="pt-PT" sz="1600" u="none" cap="none" strike="noStrike">
                <a:solidFill>
                  <a:srgbClr val="5E7370"/>
                </a:solidFill>
                <a:latin typeface="Nunito"/>
                <a:ea typeface="Nunito"/>
                <a:cs typeface="Nunito"/>
                <a:sym typeface="Nunito"/>
              </a:rPr>
              <a:t>Apoio ao template</a:t>
            </a:r>
            <a:endParaRPr b="0" i="0" sz="1600" u="none" cap="none" strike="noStrike">
              <a:solidFill>
                <a:schemeClr val="dk1"/>
              </a:solidFill>
              <a:latin typeface="Nunito"/>
              <a:ea typeface="Nunito"/>
              <a:cs typeface="Nunito"/>
              <a:sym typeface="Nunito"/>
            </a:endParaRPr>
          </a:p>
        </p:txBody>
      </p:sp>
      <p:pic>
        <p:nvPicPr>
          <p:cNvPr id="210" name="Google Shape;210;p9"/>
          <p:cNvPicPr preferRelativeResize="0"/>
          <p:nvPr/>
        </p:nvPicPr>
        <p:blipFill rotWithShape="1">
          <a:blip r:embed="rId4">
            <a:alphaModFix/>
          </a:blip>
          <a:srcRect b="0" l="0" r="0" t="0"/>
          <a:stretch/>
        </p:blipFill>
        <p:spPr>
          <a:xfrm>
            <a:off x="827471" y="2257951"/>
            <a:ext cx="420291" cy="403622"/>
          </a:xfrm>
          <a:prstGeom prst="rect">
            <a:avLst/>
          </a:prstGeom>
          <a:noFill/>
          <a:ln>
            <a:noFill/>
          </a:ln>
        </p:spPr>
      </p:pic>
      <p:pic>
        <p:nvPicPr>
          <p:cNvPr id="211" name="Google Shape;211;p9"/>
          <p:cNvPicPr preferRelativeResize="0"/>
          <p:nvPr/>
        </p:nvPicPr>
        <p:blipFill rotWithShape="1">
          <a:blip r:embed="rId5">
            <a:alphaModFix/>
          </a:blip>
          <a:srcRect b="0" l="0" r="0" t="0"/>
          <a:stretch/>
        </p:blipFill>
        <p:spPr>
          <a:xfrm>
            <a:off x="2163095" y="2196672"/>
            <a:ext cx="541415" cy="537843"/>
          </a:xfrm>
          <a:prstGeom prst="rect">
            <a:avLst/>
          </a:prstGeom>
          <a:noFill/>
          <a:ln>
            <a:noFill/>
          </a:ln>
        </p:spPr>
      </p:pic>
      <p:pic>
        <p:nvPicPr>
          <p:cNvPr id="212" name="Google Shape;212;p9"/>
          <p:cNvPicPr preferRelativeResize="0"/>
          <p:nvPr/>
        </p:nvPicPr>
        <p:blipFill rotWithShape="1">
          <a:blip r:embed="rId6">
            <a:alphaModFix/>
          </a:blip>
          <a:srcRect b="0" l="0" r="0" t="0"/>
          <a:stretch/>
        </p:blipFill>
        <p:spPr>
          <a:xfrm>
            <a:off x="3571834" y="2139043"/>
            <a:ext cx="567929" cy="558404"/>
          </a:xfrm>
          <a:prstGeom prst="rect">
            <a:avLst/>
          </a:prstGeom>
          <a:noFill/>
          <a:ln>
            <a:noFill/>
          </a:ln>
        </p:spPr>
      </p:pic>
      <p:pic>
        <p:nvPicPr>
          <p:cNvPr id="213" name="Google Shape;213;p9"/>
          <p:cNvPicPr preferRelativeResize="0"/>
          <p:nvPr/>
        </p:nvPicPr>
        <p:blipFill rotWithShape="1">
          <a:blip r:embed="rId7">
            <a:alphaModFix/>
          </a:blip>
          <a:srcRect b="0" l="0" r="0" t="0"/>
          <a:stretch/>
        </p:blipFill>
        <p:spPr>
          <a:xfrm>
            <a:off x="10189531" y="2196673"/>
            <a:ext cx="567929" cy="558404"/>
          </a:xfrm>
          <a:prstGeom prst="rect">
            <a:avLst/>
          </a:prstGeom>
          <a:noFill/>
          <a:ln>
            <a:noFill/>
          </a:ln>
        </p:spPr>
      </p:pic>
      <p:pic>
        <p:nvPicPr>
          <p:cNvPr id="214" name="Google Shape;214;p9"/>
          <p:cNvPicPr preferRelativeResize="0"/>
          <p:nvPr/>
        </p:nvPicPr>
        <p:blipFill rotWithShape="1">
          <a:blip r:embed="rId8">
            <a:alphaModFix/>
          </a:blip>
          <a:srcRect b="0" l="0" r="0" t="0"/>
          <a:stretch/>
        </p:blipFill>
        <p:spPr>
          <a:xfrm>
            <a:off x="8806405" y="2177463"/>
            <a:ext cx="567929" cy="558404"/>
          </a:xfrm>
          <a:prstGeom prst="rect">
            <a:avLst/>
          </a:prstGeom>
          <a:noFill/>
          <a:ln>
            <a:noFill/>
          </a:ln>
        </p:spPr>
      </p:pic>
      <p:pic>
        <p:nvPicPr>
          <p:cNvPr id="215" name="Google Shape;215;p9"/>
          <p:cNvPicPr preferRelativeResize="0"/>
          <p:nvPr/>
        </p:nvPicPr>
        <p:blipFill rotWithShape="1">
          <a:blip r:embed="rId9">
            <a:alphaModFix/>
          </a:blip>
          <a:srcRect b="0" l="0" r="0" t="0"/>
          <a:stretch/>
        </p:blipFill>
        <p:spPr>
          <a:xfrm>
            <a:off x="7538539" y="2177463"/>
            <a:ext cx="567929" cy="558404"/>
          </a:xfrm>
          <a:prstGeom prst="rect">
            <a:avLst/>
          </a:prstGeom>
          <a:noFill/>
          <a:ln>
            <a:noFill/>
          </a:ln>
        </p:spPr>
      </p:pic>
      <p:pic>
        <p:nvPicPr>
          <p:cNvPr id="216" name="Google Shape;216;p9"/>
          <p:cNvPicPr preferRelativeResize="0"/>
          <p:nvPr/>
        </p:nvPicPr>
        <p:blipFill rotWithShape="1">
          <a:blip r:embed="rId10">
            <a:alphaModFix/>
          </a:blip>
          <a:srcRect b="0" l="0" r="0" t="0"/>
          <a:stretch/>
        </p:blipFill>
        <p:spPr>
          <a:xfrm>
            <a:off x="4942927" y="2241999"/>
            <a:ext cx="512227" cy="512676"/>
          </a:xfrm>
          <a:prstGeom prst="rect">
            <a:avLst/>
          </a:prstGeom>
          <a:noFill/>
          <a:ln>
            <a:noFill/>
          </a:ln>
        </p:spPr>
      </p:pic>
      <p:pic>
        <p:nvPicPr>
          <p:cNvPr id="217" name="Google Shape;217;p9"/>
          <p:cNvPicPr preferRelativeResize="0"/>
          <p:nvPr/>
        </p:nvPicPr>
        <p:blipFill rotWithShape="1">
          <a:blip r:embed="rId11">
            <a:alphaModFix/>
          </a:blip>
          <a:srcRect b="0" l="0" r="0" t="0"/>
          <a:stretch/>
        </p:blipFill>
        <p:spPr>
          <a:xfrm>
            <a:off x="6307733" y="2228648"/>
            <a:ext cx="524476" cy="491749"/>
          </a:xfrm>
          <a:prstGeom prst="rect">
            <a:avLst/>
          </a:prstGeom>
          <a:noFill/>
          <a:ln>
            <a:noFill/>
          </a:ln>
        </p:spPr>
      </p:pic>
      <p:sp>
        <p:nvSpPr>
          <p:cNvPr id="218" name="Google Shape;21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PT"/>
              <a:t>‹#›</a:t>
            </a:fld>
            <a:endParaRPr/>
          </a:p>
        </p:txBody>
      </p:sp>
      <p:pic>
        <p:nvPicPr>
          <p:cNvPr id="219" name="Google Shape;219;p9"/>
          <p:cNvPicPr preferRelativeResize="0"/>
          <p:nvPr/>
        </p:nvPicPr>
        <p:blipFill rotWithShape="1">
          <a:blip r:embed="rId12">
            <a:alphaModFix/>
          </a:blip>
          <a:srcRect b="0" l="0" r="0" t="0"/>
          <a:stretch/>
        </p:blipFill>
        <p:spPr>
          <a:xfrm>
            <a:off x="2585223" y="5692604"/>
            <a:ext cx="1147966" cy="356241"/>
          </a:xfrm>
          <a:prstGeom prst="rect">
            <a:avLst/>
          </a:prstGeom>
          <a:noFill/>
          <a:ln>
            <a:noFill/>
          </a:ln>
        </p:spPr>
      </p:pic>
      <p:pic>
        <p:nvPicPr>
          <p:cNvPr id="220" name="Google Shape;220;p9"/>
          <p:cNvPicPr preferRelativeResize="0"/>
          <p:nvPr/>
        </p:nvPicPr>
        <p:blipFill rotWithShape="1">
          <a:blip r:embed="rId13">
            <a:alphaModFix/>
          </a:blip>
          <a:srcRect b="0" l="0" r="0" t="0"/>
          <a:stretch/>
        </p:blipFill>
        <p:spPr>
          <a:xfrm>
            <a:off x="970577" y="5692928"/>
            <a:ext cx="1261775" cy="355599"/>
          </a:xfrm>
          <a:prstGeom prst="rect">
            <a:avLst/>
          </a:prstGeom>
          <a:noFill/>
          <a:ln>
            <a:noFill/>
          </a:ln>
        </p:spPr>
      </p:pic>
      <p:pic>
        <p:nvPicPr>
          <p:cNvPr id="221" name="Google Shape;221;p9"/>
          <p:cNvPicPr preferRelativeResize="0"/>
          <p:nvPr/>
        </p:nvPicPr>
        <p:blipFill rotWithShape="1">
          <a:blip r:embed="rId14">
            <a:alphaModFix/>
          </a:blip>
          <a:srcRect b="0" l="0" r="0" t="0"/>
          <a:stretch/>
        </p:blipFill>
        <p:spPr>
          <a:xfrm>
            <a:off x="4073702" y="5682827"/>
            <a:ext cx="1340776" cy="376688"/>
          </a:xfrm>
          <a:prstGeom prst="rect">
            <a:avLst/>
          </a:prstGeom>
          <a:noFill/>
          <a:ln>
            <a:noFill/>
          </a:ln>
        </p:spPr>
      </p:pic>
      <p:pic>
        <p:nvPicPr>
          <p:cNvPr id="222" name="Google Shape;222;p9"/>
          <p:cNvPicPr preferRelativeResize="0"/>
          <p:nvPr/>
        </p:nvPicPr>
        <p:blipFill rotWithShape="1">
          <a:blip r:embed="rId15">
            <a:alphaModFix/>
          </a:blip>
          <a:srcRect b="0" l="0" r="0" t="0"/>
          <a:stretch/>
        </p:blipFill>
        <p:spPr>
          <a:xfrm>
            <a:off x="5651279" y="5681707"/>
            <a:ext cx="1246187" cy="378931"/>
          </a:xfrm>
          <a:prstGeom prst="rect">
            <a:avLst/>
          </a:prstGeom>
          <a:noFill/>
          <a:ln>
            <a:noFill/>
          </a:ln>
        </p:spPr>
      </p:pic>
      <p:pic>
        <p:nvPicPr>
          <p:cNvPr id="223" name="Google Shape;223;p9"/>
          <p:cNvPicPr preferRelativeResize="0"/>
          <p:nvPr/>
        </p:nvPicPr>
        <p:blipFill rotWithShape="1">
          <a:blip r:embed="rId16">
            <a:alphaModFix/>
          </a:blip>
          <a:srcRect b="0" l="0" r="0" t="0"/>
          <a:stretch/>
        </p:blipFill>
        <p:spPr>
          <a:xfrm>
            <a:off x="10999530" y="6300180"/>
            <a:ext cx="463463" cy="459582"/>
          </a:xfrm>
          <a:prstGeom prst="rect">
            <a:avLst/>
          </a:prstGeom>
          <a:noFill/>
          <a:ln>
            <a:noFill/>
          </a:ln>
        </p:spPr>
      </p:pic>
      <p:sp>
        <p:nvSpPr>
          <p:cNvPr id="224" name="Google Shape;224;p9"/>
          <p:cNvSpPr txBox="1"/>
          <p:nvPr/>
        </p:nvSpPr>
        <p:spPr>
          <a:xfrm>
            <a:off x="791690" y="1717112"/>
            <a:ext cx="1645708" cy="3143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i="0" lang="pt-PT" sz="1400" u="none" cap="none" strike="noStrike">
                <a:solidFill>
                  <a:srgbClr val="2F3F3D"/>
                </a:solidFill>
                <a:latin typeface="Nunito"/>
                <a:ea typeface="Nunito"/>
                <a:cs typeface="Nunito"/>
                <a:sym typeface="Nunito"/>
              </a:rPr>
              <a:t>Genericos</a:t>
            </a:r>
            <a:endParaRPr/>
          </a:p>
        </p:txBody>
      </p:sp>
      <p:sp>
        <p:nvSpPr>
          <p:cNvPr id="225" name="Google Shape;225;p9"/>
          <p:cNvSpPr txBox="1"/>
          <p:nvPr/>
        </p:nvSpPr>
        <p:spPr>
          <a:xfrm>
            <a:off x="828732" y="4384112"/>
            <a:ext cx="1645708" cy="3143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i="0" lang="pt-PT" sz="1400" u="none" cap="none" strike="noStrike">
                <a:solidFill>
                  <a:srgbClr val="2F3F3D"/>
                </a:solidFill>
                <a:latin typeface="Nunito"/>
                <a:ea typeface="Nunito"/>
                <a:cs typeface="Nunito"/>
                <a:sym typeface="Nunito"/>
              </a:rPr>
              <a:t>Tags</a:t>
            </a:r>
            <a:endParaRPr b="1" i="0" sz="6000" u="none" cap="none" strike="noStrike">
              <a:solidFill>
                <a:schemeClr val="dk1"/>
              </a:solidFill>
              <a:latin typeface="Nunito"/>
              <a:ea typeface="Nunito"/>
              <a:cs typeface="Nunito"/>
              <a:sym typeface="Nunito"/>
            </a:endParaRPr>
          </a:p>
        </p:txBody>
      </p:sp>
      <p:pic>
        <p:nvPicPr>
          <p:cNvPr id="226" name="Google Shape;226;p9"/>
          <p:cNvPicPr preferRelativeResize="0"/>
          <p:nvPr/>
        </p:nvPicPr>
        <p:blipFill rotWithShape="1">
          <a:blip r:embed="rId17">
            <a:alphaModFix/>
          </a:blip>
          <a:srcRect b="0" l="0" r="0" t="0"/>
          <a:stretch/>
        </p:blipFill>
        <p:spPr>
          <a:xfrm>
            <a:off x="3541183" y="3274484"/>
            <a:ext cx="527050" cy="504825"/>
          </a:xfrm>
          <a:prstGeom prst="rect">
            <a:avLst/>
          </a:prstGeom>
          <a:noFill/>
          <a:ln>
            <a:noFill/>
          </a:ln>
        </p:spPr>
      </p:pic>
      <p:pic>
        <p:nvPicPr>
          <p:cNvPr id="227" name="Google Shape;227;p9"/>
          <p:cNvPicPr preferRelativeResize="0"/>
          <p:nvPr/>
        </p:nvPicPr>
        <p:blipFill rotWithShape="1">
          <a:blip r:embed="rId18">
            <a:alphaModFix/>
          </a:blip>
          <a:srcRect b="0" l="0" r="0" t="0"/>
          <a:stretch/>
        </p:blipFill>
        <p:spPr>
          <a:xfrm>
            <a:off x="4915958" y="3275542"/>
            <a:ext cx="539750" cy="513292"/>
          </a:xfrm>
          <a:prstGeom prst="rect">
            <a:avLst/>
          </a:prstGeom>
          <a:noFill/>
          <a:ln>
            <a:noFill/>
          </a:ln>
        </p:spPr>
      </p:pic>
      <p:pic>
        <p:nvPicPr>
          <p:cNvPr id="228" name="Google Shape;228;p9"/>
          <p:cNvPicPr preferRelativeResize="0"/>
          <p:nvPr/>
        </p:nvPicPr>
        <p:blipFill rotWithShape="1">
          <a:blip r:embed="rId19">
            <a:alphaModFix/>
          </a:blip>
          <a:srcRect b="0" l="0" r="0" t="0"/>
          <a:stretch/>
        </p:blipFill>
        <p:spPr>
          <a:xfrm>
            <a:off x="899053" y="3274484"/>
            <a:ext cx="514350" cy="504825"/>
          </a:xfrm>
          <a:prstGeom prst="rect">
            <a:avLst/>
          </a:prstGeom>
          <a:noFill/>
          <a:ln>
            <a:noFill/>
          </a:ln>
        </p:spPr>
      </p:pic>
      <p:pic>
        <p:nvPicPr>
          <p:cNvPr id="229" name="Google Shape;229;p9"/>
          <p:cNvPicPr preferRelativeResize="0"/>
          <p:nvPr/>
        </p:nvPicPr>
        <p:blipFill rotWithShape="1">
          <a:blip r:embed="rId20">
            <a:alphaModFix/>
          </a:blip>
          <a:srcRect b="0" l="0" r="0" t="0"/>
          <a:stretch/>
        </p:blipFill>
        <p:spPr>
          <a:xfrm>
            <a:off x="2280178" y="3274484"/>
            <a:ext cx="514350" cy="504825"/>
          </a:xfrm>
          <a:prstGeom prst="rect">
            <a:avLst/>
          </a:prstGeom>
          <a:noFill/>
          <a:ln>
            <a:noFill/>
          </a:ln>
        </p:spPr>
      </p:pic>
      <p:pic>
        <p:nvPicPr>
          <p:cNvPr id="230" name="Google Shape;230;p9"/>
          <p:cNvPicPr preferRelativeResize="0"/>
          <p:nvPr/>
        </p:nvPicPr>
        <p:blipFill rotWithShape="1">
          <a:blip r:embed="rId21">
            <a:alphaModFix/>
          </a:blip>
          <a:srcRect b="0" l="0" r="0" t="0"/>
          <a:stretch/>
        </p:blipFill>
        <p:spPr>
          <a:xfrm>
            <a:off x="2501900" y="4975225"/>
            <a:ext cx="1309159" cy="347134"/>
          </a:xfrm>
          <a:prstGeom prst="rect">
            <a:avLst/>
          </a:prstGeom>
          <a:noFill/>
          <a:ln>
            <a:noFill/>
          </a:ln>
        </p:spPr>
      </p:pic>
      <p:pic>
        <p:nvPicPr>
          <p:cNvPr id="231" name="Google Shape;231;p9"/>
          <p:cNvPicPr preferRelativeResize="0"/>
          <p:nvPr/>
        </p:nvPicPr>
        <p:blipFill rotWithShape="1">
          <a:blip r:embed="rId22">
            <a:alphaModFix/>
          </a:blip>
          <a:srcRect b="0" l="0" r="0" t="0"/>
          <a:stretch/>
        </p:blipFill>
        <p:spPr>
          <a:xfrm>
            <a:off x="962025" y="4975225"/>
            <a:ext cx="1309159" cy="347134"/>
          </a:xfrm>
          <a:prstGeom prst="rect">
            <a:avLst/>
          </a:prstGeom>
          <a:noFill/>
          <a:ln>
            <a:noFill/>
          </a:ln>
        </p:spPr>
      </p:pic>
      <p:pic>
        <p:nvPicPr>
          <p:cNvPr id="232" name="Google Shape;232;p9"/>
          <p:cNvPicPr preferRelativeResize="0"/>
          <p:nvPr/>
        </p:nvPicPr>
        <p:blipFill rotWithShape="1">
          <a:blip r:embed="rId23">
            <a:alphaModFix/>
          </a:blip>
          <a:srcRect b="0" l="0" r="0" t="0"/>
          <a:stretch/>
        </p:blipFill>
        <p:spPr>
          <a:xfrm>
            <a:off x="4025899" y="4975225"/>
            <a:ext cx="1309159" cy="347134"/>
          </a:xfrm>
          <a:prstGeom prst="rect">
            <a:avLst/>
          </a:prstGeom>
          <a:noFill/>
          <a:ln>
            <a:noFill/>
          </a:ln>
        </p:spPr>
      </p:pic>
      <p:pic>
        <p:nvPicPr>
          <p:cNvPr id="233" name="Google Shape;233;p9"/>
          <p:cNvPicPr preferRelativeResize="0"/>
          <p:nvPr/>
        </p:nvPicPr>
        <p:blipFill rotWithShape="1">
          <a:blip r:embed="rId24">
            <a:alphaModFix/>
          </a:blip>
          <a:srcRect b="0" l="0" r="0" t="0"/>
          <a:stretch/>
        </p:blipFill>
        <p:spPr>
          <a:xfrm>
            <a:off x="6259249" y="3272347"/>
            <a:ext cx="571854" cy="567974"/>
          </a:xfrm>
          <a:prstGeom prst="rect">
            <a:avLst/>
          </a:prstGeom>
          <a:noFill/>
          <a:ln>
            <a:noFill/>
          </a:ln>
        </p:spPr>
      </p:pic>
      <p:pic>
        <p:nvPicPr>
          <p:cNvPr id="234" name="Google Shape;234;p9"/>
          <p:cNvPicPr preferRelativeResize="0"/>
          <p:nvPr/>
        </p:nvPicPr>
        <p:blipFill rotWithShape="1">
          <a:blip r:embed="rId25">
            <a:alphaModFix/>
          </a:blip>
          <a:srcRect b="0" l="0" r="0" t="0"/>
          <a:stretch/>
        </p:blipFill>
        <p:spPr>
          <a:xfrm>
            <a:off x="7543712" y="3277483"/>
            <a:ext cx="560565" cy="556684"/>
          </a:xfrm>
          <a:prstGeom prst="rect">
            <a:avLst/>
          </a:prstGeom>
          <a:noFill/>
          <a:ln>
            <a:noFill/>
          </a:ln>
        </p:spPr>
      </p:pic>
      <p:sp>
        <p:nvSpPr>
          <p:cNvPr id="235" name="Google Shape;235;p9"/>
          <p:cNvSpPr txBox="1"/>
          <p:nvPr/>
        </p:nvSpPr>
        <p:spPr>
          <a:xfrm>
            <a:off x="7711668" y="4365282"/>
            <a:ext cx="1645708" cy="3143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i="0" lang="pt-PT" sz="1400" u="none" cap="none" strike="noStrike">
                <a:solidFill>
                  <a:srgbClr val="2F3F3D"/>
                </a:solidFill>
                <a:latin typeface="Nunito"/>
                <a:ea typeface="Nunito"/>
                <a:cs typeface="Nunito"/>
                <a:sym typeface="Nunito"/>
              </a:rPr>
              <a:t>Logos</a:t>
            </a:r>
            <a:endParaRPr b="1" i="0" sz="6000" u="none" cap="none" strike="noStrike">
              <a:solidFill>
                <a:schemeClr val="dk1"/>
              </a:solidFill>
              <a:latin typeface="Nunito"/>
              <a:ea typeface="Nunito"/>
              <a:cs typeface="Nunito"/>
              <a:sym typeface="Nunito"/>
            </a:endParaRPr>
          </a:p>
        </p:txBody>
      </p:sp>
      <p:pic>
        <p:nvPicPr>
          <p:cNvPr id="236" name="Google Shape;236;p9"/>
          <p:cNvPicPr preferRelativeResize="0"/>
          <p:nvPr/>
        </p:nvPicPr>
        <p:blipFill rotWithShape="1">
          <a:blip r:embed="rId26">
            <a:alphaModFix/>
          </a:blip>
          <a:srcRect b="0" l="0" r="0" t="0"/>
          <a:stretch/>
        </p:blipFill>
        <p:spPr>
          <a:xfrm>
            <a:off x="9203950" y="4976269"/>
            <a:ext cx="2017473" cy="974625"/>
          </a:xfrm>
          <a:prstGeom prst="rect">
            <a:avLst/>
          </a:prstGeom>
          <a:noFill/>
          <a:ln>
            <a:noFill/>
          </a:ln>
        </p:spPr>
      </p:pic>
      <p:pic>
        <p:nvPicPr>
          <p:cNvPr id="237" name="Google Shape;237;p9"/>
          <p:cNvPicPr preferRelativeResize="0"/>
          <p:nvPr/>
        </p:nvPicPr>
        <p:blipFill rotWithShape="1">
          <a:blip r:embed="rId27">
            <a:alphaModFix/>
          </a:blip>
          <a:srcRect b="0" l="0" r="0" t="0"/>
          <a:stretch/>
        </p:blipFill>
        <p:spPr>
          <a:xfrm>
            <a:off x="7711668" y="4839679"/>
            <a:ext cx="1241056" cy="1114418"/>
          </a:xfrm>
          <a:prstGeom prst="rect">
            <a:avLst/>
          </a:prstGeom>
          <a:noFill/>
          <a:ln>
            <a:noFill/>
          </a:ln>
        </p:spPr>
      </p:pic>
      <p:sp>
        <p:nvSpPr>
          <p:cNvPr id="238" name="Google Shape;238;p9"/>
          <p:cNvSpPr/>
          <p:nvPr/>
        </p:nvSpPr>
        <p:spPr>
          <a:xfrm>
            <a:off x="5618000" y="4972675"/>
            <a:ext cx="1309200" cy="347100"/>
          </a:xfrm>
          <a:prstGeom prst="roundRect">
            <a:avLst>
              <a:gd fmla="val 16667" name="adj"/>
            </a:avLst>
          </a:prstGeom>
          <a:solidFill>
            <a:srgbClr val="E4F9E4"/>
          </a:solidFill>
          <a:ln cap="flat" cmpd="sng" w="9525">
            <a:solidFill>
              <a:srgbClr val="A2E1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300">
                <a:solidFill>
                  <a:srgbClr val="0AAD18"/>
                </a:solidFill>
                <a:latin typeface="Nunito SemiBold"/>
                <a:ea typeface="Nunito SemiBold"/>
                <a:cs typeface="Nunito SemiBold"/>
                <a:sym typeface="Nunito SemiBold"/>
              </a:rPr>
              <a:t>Pacientes</a:t>
            </a:r>
            <a:endParaRPr sz="1300">
              <a:solidFill>
                <a:srgbClr val="0AAD18"/>
              </a:solidFill>
              <a:latin typeface="Nunito SemiBold"/>
              <a:ea typeface="Nunito SemiBold"/>
              <a:cs typeface="Nunito SemiBold"/>
              <a:sym typeface="Nunito SemiBold"/>
            </a:endParaRPr>
          </a:p>
        </p:txBody>
      </p:sp>
      <p:sp>
        <p:nvSpPr>
          <p:cNvPr id="239" name="Google Shape;239;p9"/>
          <p:cNvSpPr/>
          <p:nvPr/>
        </p:nvSpPr>
        <p:spPr>
          <a:xfrm>
            <a:off x="5618000" y="4500088"/>
            <a:ext cx="1309200" cy="347100"/>
          </a:xfrm>
          <a:prstGeom prst="roundRect">
            <a:avLst>
              <a:gd fmla="val 16667" name="adj"/>
            </a:avLst>
          </a:prstGeom>
          <a:solidFill>
            <a:srgbClr val="F9F2F5"/>
          </a:solidFill>
          <a:ln cap="flat" cmpd="sng" w="9525">
            <a:solidFill>
              <a:srgbClr val="EC548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200">
                <a:solidFill>
                  <a:srgbClr val="E4025B"/>
                </a:solidFill>
                <a:latin typeface="Nunito SemiBold"/>
                <a:ea typeface="Nunito SemiBold"/>
                <a:cs typeface="Nunito SemiBold"/>
                <a:sym typeface="Nunito SemiBold"/>
              </a:rPr>
              <a:t>Prof. de Saúde</a:t>
            </a:r>
            <a:endParaRPr sz="1200">
              <a:solidFill>
                <a:srgbClr val="E4025B"/>
              </a:solidFill>
              <a:latin typeface="Nunito SemiBold"/>
              <a:ea typeface="Nunito SemiBold"/>
              <a:cs typeface="Nunito SemiBold"/>
              <a:sym typeface="Nunito SemiBold"/>
            </a:endParaRPr>
          </a:p>
        </p:txBody>
      </p:sp>
      <p:sp>
        <p:nvSpPr>
          <p:cNvPr id="240" name="Google Shape;240;p9"/>
          <p:cNvSpPr/>
          <p:nvPr/>
        </p:nvSpPr>
        <p:spPr>
          <a:xfrm>
            <a:off x="5619775" y="4027500"/>
            <a:ext cx="1309200" cy="347100"/>
          </a:xfrm>
          <a:prstGeom prst="roundRect">
            <a:avLst>
              <a:gd fmla="val 16667" name="adj"/>
            </a:avLst>
          </a:prstGeom>
          <a:solidFill>
            <a:srgbClr val="E6FBFB"/>
          </a:solidFill>
          <a:ln cap="flat" cmpd="sng" w="9525">
            <a:solidFill>
              <a:srgbClr val="A6D7D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PT" sz="1300">
                <a:solidFill>
                  <a:srgbClr val="008295"/>
                </a:solidFill>
                <a:latin typeface="Nunito SemiBold"/>
                <a:ea typeface="Nunito SemiBold"/>
                <a:cs typeface="Nunito SemiBold"/>
                <a:sym typeface="Nunito SemiBold"/>
              </a:rPr>
              <a:t>Clínicas</a:t>
            </a:r>
            <a:endParaRPr sz="1300">
              <a:solidFill>
                <a:srgbClr val="008295"/>
              </a:solidFill>
              <a:latin typeface="Nunito SemiBold"/>
              <a:ea typeface="Nunito SemiBold"/>
              <a:cs typeface="Nunito SemiBold"/>
              <a:sym typeface="Nunito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 name="Shape 244"/>
        <p:cNvGrpSpPr/>
        <p:nvPr/>
      </p:nvGrpSpPr>
      <p:grpSpPr>
        <a:xfrm>
          <a:off x="0" y="0"/>
          <a:ext cx="0" cy="0"/>
          <a:chOff x="0" y="0"/>
          <a:chExt cx="0" cy="0"/>
        </a:xfrm>
      </p:grpSpPr>
      <p:sp>
        <p:nvSpPr>
          <p:cNvPr id="245" name="Google Shape;245;g30102cbb44b_0_0"/>
          <p:cNvSpPr txBox="1"/>
          <p:nvPr>
            <p:ph type="ctrTitle"/>
          </p:nvPr>
        </p:nvSpPr>
        <p:spPr>
          <a:xfrm>
            <a:off x="786384" y="604767"/>
            <a:ext cx="9144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2000"/>
              <a:buFont typeface="Nunito"/>
              <a:buNone/>
            </a:pPr>
            <a:r>
              <a:rPr b="1" lang="pt-PT" sz="2000">
                <a:solidFill>
                  <a:srgbClr val="2F3F3D"/>
                </a:solidFill>
                <a:latin typeface="Nunito"/>
                <a:ea typeface="Nunito"/>
                <a:cs typeface="Nunito"/>
                <a:sym typeface="Nunito"/>
              </a:rPr>
              <a:t>Icons &amp; Tags</a:t>
            </a:r>
            <a:endParaRPr sz="5400">
              <a:latin typeface="Nunito"/>
              <a:ea typeface="Nunito"/>
              <a:cs typeface="Nunito"/>
              <a:sym typeface="Nunito"/>
            </a:endParaRPr>
          </a:p>
        </p:txBody>
      </p:sp>
      <p:sp>
        <p:nvSpPr>
          <p:cNvPr id="246" name="Google Shape;246;g30102cbb44b_0_0"/>
          <p:cNvSpPr txBox="1"/>
          <p:nvPr/>
        </p:nvSpPr>
        <p:spPr>
          <a:xfrm>
            <a:off x="807680" y="1083789"/>
            <a:ext cx="9144000" cy="3513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5E7370"/>
              </a:buClr>
              <a:buSzPts val="1600"/>
              <a:buFont typeface="Nunito"/>
              <a:buNone/>
            </a:pPr>
            <a:r>
              <a:rPr b="0" i="0" lang="pt-PT" sz="1600" u="none" cap="none" strike="noStrike">
                <a:solidFill>
                  <a:srgbClr val="5E7370"/>
                </a:solidFill>
                <a:latin typeface="Nunito"/>
                <a:ea typeface="Nunito"/>
                <a:cs typeface="Nunito"/>
                <a:sym typeface="Nunito"/>
              </a:rPr>
              <a:t>Apoio ao template</a:t>
            </a:r>
            <a:endParaRPr b="0" i="0" sz="1600" u="none" cap="none" strike="noStrike">
              <a:solidFill>
                <a:schemeClr val="dk1"/>
              </a:solidFill>
              <a:latin typeface="Nunito"/>
              <a:ea typeface="Nunito"/>
              <a:cs typeface="Nunito"/>
              <a:sym typeface="Nunito"/>
            </a:endParaRPr>
          </a:p>
        </p:txBody>
      </p:sp>
      <p:sp>
        <p:nvSpPr>
          <p:cNvPr id="247" name="Google Shape;247;g30102cbb44b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PT"/>
              <a:t>‹#›</a:t>
            </a:fld>
            <a:endParaRPr/>
          </a:p>
        </p:txBody>
      </p:sp>
      <p:pic>
        <p:nvPicPr>
          <p:cNvPr id="248" name="Google Shape;248;g30102cbb44b_0_0"/>
          <p:cNvPicPr preferRelativeResize="0"/>
          <p:nvPr/>
        </p:nvPicPr>
        <p:blipFill rotWithShape="1">
          <a:blip r:embed="rId4">
            <a:alphaModFix/>
          </a:blip>
          <a:srcRect b="0" l="0" r="0" t="0"/>
          <a:stretch/>
        </p:blipFill>
        <p:spPr>
          <a:xfrm>
            <a:off x="10999530" y="6300180"/>
            <a:ext cx="463463" cy="459582"/>
          </a:xfrm>
          <a:prstGeom prst="rect">
            <a:avLst/>
          </a:prstGeom>
          <a:noFill/>
          <a:ln>
            <a:noFill/>
          </a:ln>
        </p:spPr>
      </p:pic>
      <p:sp>
        <p:nvSpPr>
          <p:cNvPr id="249" name="Google Shape;249;g30102cbb44b_0_0"/>
          <p:cNvSpPr txBox="1"/>
          <p:nvPr/>
        </p:nvSpPr>
        <p:spPr>
          <a:xfrm>
            <a:off x="791690" y="1717112"/>
            <a:ext cx="1645800" cy="3144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i="0" lang="pt-PT" sz="1400" u="none" cap="none" strike="noStrike">
                <a:solidFill>
                  <a:srgbClr val="2F3F3D"/>
                </a:solidFill>
                <a:latin typeface="Nunito"/>
                <a:ea typeface="Nunito"/>
                <a:cs typeface="Nunito"/>
                <a:sym typeface="Nunito"/>
              </a:rPr>
              <a:t>Genericos</a:t>
            </a:r>
            <a:endParaRPr/>
          </a:p>
        </p:txBody>
      </p:sp>
      <p:sp>
        <p:nvSpPr>
          <p:cNvPr id="250" name="Google Shape;250;g30102cbb44b_0_0"/>
          <p:cNvSpPr txBox="1"/>
          <p:nvPr/>
        </p:nvSpPr>
        <p:spPr>
          <a:xfrm>
            <a:off x="828732" y="4384112"/>
            <a:ext cx="1645800" cy="3144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rgbClr val="2F3F3D"/>
              </a:buClr>
              <a:buSzPts val="1400"/>
              <a:buFont typeface="Nunito"/>
              <a:buNone/>
            </a:pPr>
            <a:r>
              <a:rPr b="1" i="0" lang="pt-PT" sz="1400" u="none" cap="none" strike="noStrike">
                <a:solidFill>
                  <a:srgbClr val="2F3F3D"/>
                </a:solidFill>
                <a:latin typeface="Nunito"/>
                <a:ea typeface="Nunito"/>
                <a:cs typeface="Nunito"/>
                <a:sym typeface="Nunito"/>
              </a:rPr>
              <a:t>Tags</a:t>
            </a:r>
            <a:endParaRPr b="1" i="0" sz="6000" u="none" cap="none" strike="noStrike">
              <a:solidFill>
                <a:schemeClr val="dk1"/>
              </a:solidFill>
              <a:latin typeface="Nunito"/>
              <a:ea typeface="Nunito"/>
              <a:cs typeface="Nunito"/>
              <a:sym typeface="Nunito"/>
            </a:endParaRPr>
          </a:p>
        </p:txBody>
      </p:sp>
      <p:cxnSp>
        <p:nvCxnSpPr>
          <p:cNvPr id="251" name="Google Shape;251;g30102cbb44b_0_0"/>
          <p:cNvCxnSpPr/>
          <p:nvPr/>
        </p:nvCxnSpPr>
        <p:spPr>
          <a:xfrm>
            <a:off x="1458600" y="3176150"/>
            <a:ext cx="9283800" cy="12600"/>
          </a:xfrm>
          <a:prstGeom prst="straightConnector1">
            <a:avLst/>
          </a:prstGeom>
          <a:noFill/>
          <a:ln cap="flat" cmpd="sng" w="28575">
            <a:solidFill>
              <a:srgbClr val="E4005B"/>
            </a:solidFill>
            <a:prstDash val="solid"/>
            <a:round/>
            <a:headEnd len="med" w="med" type="none"/>
            <a:tailEnd len="med" w="med" type="none"/>
          </a:ln>
        </p:spPr>
      </p:cxnSp>
      <p:pic>
        <p:nvPicPr>
          <p:cNvPr id="252" name="Google Shape;252;g30102cbb44b_0_0"/>
          <p:cNvPicPr preferRelativeResize="0"/>
          <p:nvPr/>
        </p:nvPicPr>
        <p:blipFill>
          <a:blip r:embed="rId5">
            <a:alphaModFix/>
          </a:blip>
          <a:stretch>
            <a:fillRect/>
          </a:stretch>
        </p:blipFill>
        <p:spPr>
          <a:xfrm rot="10800000">
            <a:off x="199650" y="5422713"/>
            <a:ext cx="11792700" cy="209400"/>
          </a:xfrm>
          <a:prstGeom prst="roundRect">
            <a:avLst>
              <a:gd fmla="val 16667" name="adj"/>
            </a:avLst>
          </a:prstGeom>
          <a:noFill/>
          <a:ln cap="flat" cmpd="sng" w="28575">
            <a:solidFill>
              <a:srgbClr val="E4005B"/>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6" name="Shape 256"/>
        <p:cNvGrpSpPr/>
        <p:nvPr/>
      </p:nvGrpSpPr>
      <p:grpSpPr>
        <a:xfrm>
          <a:off x="0" y="0"/>
          <a:ext cx="0" cy="0"/>
          <a:chOff x="0" y="0"/>
          <a:chExt cx="0" cy="0"/>
        </a:xfrm>
      </p:grpSpPr>
      <p:sp>
        <p:nvSpPr>
          <p:cNvPr id="257" name="Google Shape;257;p10"/>
          <p:cNvSpPr txBox="1"/>
          <p:nvPr>
            <p:ph type="ctrTitle"/>
          </p:nvPr>
        </p:nvSpPr>
        <p:spPr>
          <a:xfrm>
            <a:off x="786384" y="604767"/>
            <a:ext cx="9144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2400"/>
              <a:buFont typeface="Play"/>
              <a:buNone/>
            </a:pPr>
            <a:r>
              <a:rPr b="1" lang="pt-PT" sz="2400">
                <a:solidFill>
                  <a:srgbClr val="2F3F3D"/>
                </a:solidFill>
              </a:rPr>
              <a:t>Imagens e Illustrações de apoio</a:t>
            </a:r>
            <a:endParaRPr/>
          </a:p>
        </p:txBody>
      </p:sp>
      <p:sp>
        <p:nvSpPr>
          <p:cNvPr id="258" name="Google Shape;258;p10"/>
          <p:cNvSpPr txBox="1"/>
          <p:nvPr/>
        </p:nvSpPr>
        <p:spPr>
          <a:xfrm>
            <a:off x="785103" y="1083789"/>
            <a:ext cx="9144000" cy="44738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5E7370"/>
              </a:buClr>
              <a:buSzPts val="1800"/>
              <a:buFont typeface="Play"/>
              <a:buNone/>
            </a:pPr>
            <a:r>
              <a:rPr b="0" i="0" lang="pt-PT" sz="1800" u="none" cap="none" strike="noStrike">
                <a:solidFill>
                  <a:srgbClr val="5E7370"/>
                </a:solidFill>
                <a:latin typeface="Play"/>
                <a:ea typeface="Play"/>
                <a:cs typeface="Play"/>
                <a:sym typeface="Play"/>
              </a:rPr>
              <a:t>Apoio ao template</a:t>
            </a:r>
            <a:endParaRPr b="0" i="0" sz="6000" u="none" cap="none" strike="noStrike">
              <a:solidFill>
                <a:schemeClr val="dk1"/>
              </a:solidFill>
              <a:latin typeface="Play"/>
              <a:ea typeface="Play"/>
              <a:cs typeface="Play"/>
              <a:sym typeface="Play"/>
            </a:endParaRPr>
          </a:p>
        </p:txBody>
      </p:sp>
      <p:pic>
        <p:nvPicPr>
          <p:cNvPr descr="Uma imagem com pessoa, vestuário, Cara humana, sorrir&#10;&#10;Descrição gerada automaticamente" id="259" name="Google Shape;259;p10"/>
          <p:cNvPicPr preferRelativeResize="0"/>
          <p:nvPr/>
        </p:nvPicPr>
        <p:blipFill rotWithShape="1">
          <a:blip r:embed="rId4">
            <a:alphaModFix/>
          </a:blip>
          <a:srcRect b="0" l="0" r="0" t="0"/>
          <a:stretch/>
        </p:blipFill>
        <p:spPr>
          <a:xfrm>
            <a:off x="784805" y="1842179"/>
            <a:ext cx="2345232" cy="1565456"/>
          </a:xfrm>
          <a:prstGeom prst="rect">
            <a:avLst/>
          </a:prstGeom>
          <a:noFill/>
          <a:ln>
            <a:noFill/>
          </a:ln>
        </p:spPr>
      </p:pic>
      <p:pic>
        <p:nvPicPr>
          <p:cNvPr descr="Uma imagem com pessoa, Trabalho, interior, computador&#10;&#10;Descrição gerada automaticamente" id="260" name="Google Shape;260;p10"/>
          <p:cNvPicPr preferRelativeResize="0"/>
          <p:nvPr/>
        </p:nvPicPr>
        <p:blipFill rotWithShape="1">
          <a:blip r:embed="rId5">
            <a:alphaModFix/>
          </a:blip>
          <a:srcRect b="0" l="0" r="0" t="0"/>
          <a:stretch/>
        </p:blipFill>
        <p:spPr>
          <a:xfrm>
            <a:off x="3735720" y="1937173"/>
            <a:ext cx="2361332" cy="1581663"/>
          </a:xfrm>
          <a:prstGeom prst="rect">
            <a:avLst/>
          </a:prstGeom>
          <a:noFill/>
          <a:ln>
            <a:noFill/>
          </a:ln>
        </p:spPr>
      </p:pic>
      <p:pic>
        <p:nvPicPr>
          <p:cNvPr descr="Uma imagem com pessoa, vestuário, interior, Cara humana&#10;&#10;Descrição gerada automaticamente" id="261" name="Google Shape;261;p10"/>
          <p:cNvPicPr preferRelativeResize="0"/>
          <p:nvPr/>
        </p:nvPicPr>
        <p:blipFill rotWithShape="1">
          <a:blip r:embed="rId6">
            <a:alphaModFix/>
          </a:blip>
          <a:srcRect b="0" l="0" r="0" t="0"/>
          <a:stretch/>
        </p:blipFill>
        <p:spPr>
          <a:xfrm>
            <a:off x="6972582" y="1939770"/>
            <a:ext cx="1382883" cy="1856867"/>
          </a:xfrm>
          <a:prstGeom prst="rect">
            <a:avLst/>
          </a:prstGeom>
          <a:noFill/>
          <a:ln>
            <a:noFill/>
          </a:ln>
        </p:spPr>
      </p:pic>
      <p:pic>
        <p:nvPicPr>
          <p:cNvPr descr="Uma imagem com pessoa, vestuário, Bata branca, médico&#10;&#10;Descrição gerada automaticamente" id="262" name="Google Shape;262;p10"/>
          <p:cNvPicPr preferRelativeResize="0"/>
          <p:nvPr/>
        </p:nvPicPr>
        <p:blipFill rotWithShape="1">
          <a:blip r:embed="rId7">
            <a:alphaModFix/>
          </a:blip>
          <a:srcRect b="0" l="0" r="0" t="0"/>
          <a:stretch/>
        </p:blipFill>
        <p:spPr>
          <a:xfrm>
            <a:off x="975878" y="4291472"/>
            <a:ext cx="1506404" cy="2194965"/>
          </a:xfrm>
          <a:prstGeom prst="rect">
            <a:avLst/>
          </a:prstGeom>
          <a:noFill/>
          <a:ln>
            <a:noFill/>
          </a:ln>
        </p:spPr>
      </p:pic>
      <p:pic>
        <p:nvPicPr>
          <p:cNvPr descr="Uma imagem com texto, computador portátil, computador, Equipamento de escritório&#10;&#10;Descrição gerada automaticamente" id="263" name="Google Shape;263;p10"/>
          <p:cNvPicPr preferRelativeResize="0"/>
          <p:nvPr/>
        </p:nvPicPr>
        <p:blipFill rotWithShape="1">
          <a:blip r:embed="rId8">
            <a:alphaModFix/>
          </a:blip>
          <a:srcRect b="0" l="0" r="0" t="0"/>
          <a:stretch/>
        </p:blipFill>
        <p:spPr>
          <a:xfrm>
            <a:off x="2929242" y="4060039"/>
            <a:ext cx="4422131" cy="2549185"/>
          </a:xfrm>
          <a:prstGeom prst="rect">
            <a:avLst/>
          </a:prstGeom>
          <a:noFill/>
          <a:ln>
            <a:noFill/>
          </a:ln>
        </p:spPr>
      </p:pic>
      <p:pic>
        <p:nvPicPr>
          <p:cNvPr id="264" name="Google Shape;264;p10"/>
          <p:cNvPicPr preferRelativeResize="0"/>
          <p:nvPr/>
        </p:nvPicPr>
        <p:blipFill rotWithShape="1">
          <a:blip r:embed="rId9">
            <a:alphaModFix/>
          </a:blip>
          <a:srcRect b="0" l="0" r="0" t="0"/>
          <a:stretch/>
        </p:blipFill>
        <p:spPr>
          <a:xfrm>
            <a:off x="6832211" y="4165600"/>
            <a:ext cx="1648307" cy="2087633"/>
          </a:xfrm>
          <a:prstGeom prst="rect">
            <a:avLst/>
          </a:prstGeom>
          <a:noFill/>
          <a:ln>
            <a:noFill/>
          </a:ln>
        </p:spPr>
      </p:pic>
      <p:sp>
        <p:nvSpPr>
          <p:cNvPr id="265" name="Google Shape;26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PT"/>
              <a:t>‹#›</a:t>
            </a:fld>
            <a:endParaRPr/>
          </a:p>
        </p:txBody>
      </p:sp>
      <p:pic>
        <p:nvPicPr>
          <p:cNvPr id="266" name="Google Shape;266;p10"/>
          <p:cNvPicPr preferRelativeResize="0"/>
          <p:nvPr/>
        </p:nvPicPr>
        <p:blipFill rotWithShape="1">
          <a:blip r:embed="rId10">
            <a:alphaModFix/>
          </a:blip>
          <a:srcRect b="0" l="0" r="0" t="0"/>
          <a:stretch/>
        </p:blipFill>
        <p:spPr>
          <a:xfrm>
            <a:off x="10999530" y="6300180"/>
            <a:ext cx="463463" cy="459582"/>
          </a:xfrm>
          <a:prstGeom prst="rect">
            <a:avLst/>
          </a:prstGeom>
          <a:noFill/>
          <a:ln>
            <a:noFill/>
          </a:ln>
        </p:spPr>
      </p:pic>
      <p:pic>
        <p:nvPicPr>
          <p:cNvPr descr="Uma imagem com texto, captura de ecrã&#10;&#10;Descrição gerada automaticamente" id="267" name="Google Shape;267;p10"/>
          <p:cNvPicPr preferRelativeResize="0"/>
          <p:nvPr/>
        </p:nvPicPr>
        <p:blipFill rotWithShape="1">
          <a:blip r:embed="rId11">
            <a:alphaModFix/>
          </a:blip>
          <a:srcRect b="0" l="0" r="0" t="0"/>
          <a:stretch/>
        </p:blipFill>
        <p:spPr>
          <a:xfrm>
            <a:off x="8948245" y="1536123"/>
            <a:ext cx="1814233" cy="2350077"/>
          </a:xfrm>
          <a:prstGeom prst="rect">
            <a:avLst/>
          </a:prstGeom>
          <a:noFill/>
          <a:ln>
            <a:noFill/>
          </a:ln>
        </p:spPr>
      </p:pic>
      <p:pic>
        <p:nvPicPr>
          <p:cNvPr id="268" name="Google Shape;268;p10"/>
          <p:cNvPicPr preferRelativeResize="0"/>
          <p:nvPr/>
        </p:nvPicPr>
        <p:blipFill rotWithShape="1">
          <a:blip r:embed="rId12">
            <a:alphaModFix/>
          </a:blip>
          <a:srcRect b="0" l="0" r="0" t="0"/>
          <a:stretch/>
        </p:blipFill>
        <p:spPr>
          <a:xfrm>
            <a:off x="9093343" y="4235925"/>
            <a:ext cx="1648307" cy="21719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sp>
        <p:nvSpPr>
          <p:cNvPr id="273" name="Google Shape;273;p11"/>
          <p:cNvSpPr txBox="1"/>
          <p:nvPr>
            <p:ph type="ctrTitle"/>
          </p:nvPr>
        </p:nvSpPr>
        <p:spPr>
          <a:xfrm>
            <a:off x="786384" y="604767"/>
            <a:ext cx="9144000" cy="479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2400"/>
              <a:buFont typeface="Nunito"/>
              <a:buNone/>
            </a:pPr>
            <a:r>
              <a:rPr b="1" lang="pt-PT" sz="2400">
                <a:solidFill>
                  <a:srgbClr val="2F3F3D"/>
                </a:solidFill>
                <a:latin typeface="Nunito"/>
                <a:ea typeface="Nunito"/>
                <a:cs typeface="Nunito"/>
                <a:sym typeface="Nunito"/>
              </a:rPr>
              <a:t>Imagens e Illustrações de apoio</a:t>
            </a:r>
            <a:endParaRPr>
              <a:latin typeface="Nunito"/>
              <a:ea typeface="Nunito"/>
              <a:cs typeface="Nunito"/>
              <a:sym typeface="Nunito"/>
            </a:endParaRPr>
          </a:p>
        </p:txBody>
      </p:sp>
      <p:sp>
        <p:nvSpPr>
          <p:cNvPr id="274" name="Google Shape;274;p11"/>
          <p:cNvSpPr txBox="1"/>
          <p:nvPr/>
        </p:nvSpPr>
        <p:spPr>
          <a:xfrm>
            <a:off x="785103" y="1083789"/>
            <a:ext cx="9144000" cy="44738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5E7370"/>
              </a:buClr>
              <a:buSzPts val="1800"/>
              <a:buFont typeface="Nunito"/>
              <a:buNone/>
            </a:pPr>
            <a:r>
              <a:rPr b="0" i="0" lang="pt-PT" sz="1800" u="none" cap="none" strike="noStrike">
                <a:solidFill>
                  <a:srgbClr val="5E7370"/>
                </a:solidFill>
                <a:latin typeface="Nunito"/>
                <a:ea typeface="Nunito"/>
                <a:cs typeface="Nunito"/>
                <a:sym typeface="Nunito"/>
              </a:rPr>
              <a:t>Apoio ao template</a:t>
            </a:r>
            <a:endParaRPr b="0" i="0" sz="6000" u="none" cap="none" strike="noStrike">
              <a:solidFill>
                <a:schemeClr val="dk1"/>
              </a:solidFill>
              <a:latin typeface="Nunito"/>
              <a:ea typeface="Nunito"/>
              <a:cs typeface="Nunito"/>
              <a:sym typeface="Nunito"/>
            </a:endParaRPr>
          </a:p>
        </p:txBody>
      </p:sp>
      <p:sp>
        <p:nvSpPr>
          <p:cNvPr id="275" name="Google Shape;27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PT"/>
              <a:t>‹#›</a:t>
            </a:fld>
            <a:endParaRPr/>
          </a:p>
        </p:txBody>
      </p:sp>
      <p:pic>
        <p:nvPicPr>
          <p:cNvPr id="276" name="Google Shape;276;p11"/>
          <p:cNvPicPr preferRelativeResize="0"/>
          <p:nvPr/>
        </p:nvPicPr>
        <p:blipFill rotWithShape="1">
          <a:blip r:embed="rId4">
            <a:alphaModFix/>
          </a:blip>
          <a:srcRect b="0" l="0" r="0" t="0"/>
          <a:stretch/>
        </p:blipFill>
        <p:spPr>
          <a:xfrm>
            <a:off x="10999530" y="6300180"/>
            <a:ext cx="463463" cy="459582"/>
          </a:xfrm>
          <a:prstGeom prst="rect">
            <a:avLst/>
          </a:prstGeom>
          <a:noFill/>
          <a:ln>
            <a:noFill/>
          </a:ln>
        </p:spPr>
      </p:pic>
      <p:pic>
        <p:nvPicPr>
          <p:cNvPr id="277" name="Google Shape;277;p11"/>
          <p:cNvPicPr preferRelativeResize="0"/>
          <p:nvPr/>
        </p:nvPicPr>
        <p:blipFill rotWithShape="1">
          <a:blip r:embed="rId5">
            <a:alphaModFix/>
          </a:blip>
          <a:srcRect b="0" l="0" r="0" t="0"/>
          <a:stretch/>
        </p:blipFill>
        <p:spPr>
          <a:xfrm>
            <a:off x="785102" y="1771650"/>
            <a:ext cx="3439417" cy="2460505"/>
          </a:xfrm>
          <a:prstGeom prst="rect">
            <a:avLst/>
          </a:prstGeom>
          <a:noFill/>
          <a:ln>
            <a:noFill/>
          </a:ln>
        </p:spPr>
      </p:pic>
      <p:pic>
        <p:nvPicPr>
          <p:cNvPr id="278" name="Google Shape;278;p11"/>
          <p:cNvPicPr preferRelativeResize="0"/>
          <p:nvPr/>
        </p:nvPicPr>
        <p:blipFill rotWithShape="1">
          <a:blip r:embed="rId6">
            <a:alphaModFix/>
          </a:blip>
          <a:srcRect b="0" l="0" r="0" t="0"/>
          <a:stretch/>
        </p:blipFill>
        <p:spPr>
          <a:xfrm>
            <a:off x="4367700" y="1771650"/>
            <a:ext cx="989403" cy="982978"/>
          </a:xfrm>
          <a:prstGeom prst="rect">
            <a:avLst/>
          </a:prstGeom>
          <a:noFill/>
          <a:ln>
            <a:noFill/>
          </a:ln>
        </p:spPr>
      </p:pic>
      <p:pic>
        <p:nvPicPr>
          <p:cNvPr id="279" name="Google Shape;279;p11"/>
          <p:cNvPicPr preferRelativeResize="0"/>
          <p:nvPr/>
        </p:nvPicPr>
        <p:blipFill rotWithShape="1">
          <a:blip r:embed="rId7">
            <a:alphaModFix/>
          </a:blip>
          <a:srcRect b="0" l="0" r="0" t="0"/>
          <a:stretch/>
        </p:blipFill>
        <p:spPr>
          <a:xfrm>
            <a:off x="4371278" y="2995106"/>
            <a:ext cx="985825" cy="982979"/>
          </a:xfrm>
          <a:prstGeom prst="rect">
            <a:avLst/>
          </a:prstGeom>
          <a:noFill/>
          <a:ln>
            <a:noFill/>
          </a:ln>
        </p:spPr>
      </p:pic>
      <p:pic>
        <p:nvPicPr>
          <p:cNvPr id="280" name="Google Shape;280;p11"/>
          <p:cNvPicPr preferRelativeResize="0"/>
          <p:nvPr/>
        </p:nvPicPr>
        <p:blipFill rotWithShape="1">
          <a:blip r:embed="rId8">
            <a:alphaModFix/>
          </a:blip>
          <a:srcRect b="0" l="0" r="0" t="0"/>
          <a:stretch/>
        </p:blipFill>
        <p:spPr>
          <a:xfrm>
            <a:off x="8553766" y="3692690"/>
            <a:ext cx="2463642" cy="1751923"/>
          </a:xfrm>
          <a:prstGeom prst="rect">
            <a:avLst/>
          </a:prstGeom>
          <a:noFill/>
          <a:ln>
            <a:noFill/>
          </a:ln>
        </p:spPr>
      </p:pic>
      <p:pic>
        <p:nvPicPr>
          <p:cNvPr id="281" name="Google Shape;281;p11"/>
          <p:cNvPicPr preferRelativeResize="0"/>
          <p:nvPr/>
        </p:nvPicPr>
        <p:blipFill rotWithShape="1">
          <a:blip r:embed="rId9">
            <a:alphaModFix/>
          </a:blip>
          <a:srcRect b="0" l="0" r="0" t="0"/>
          <a:stretch/>
        </p:blipFill>
        <p:spPr>
          <a:xfrm>
            <a:off x="10400448" y="1149581"/>
            <a:ext cx="1455813" cy="2934272"/>
          </a:xfrm>
          <a:prstGeom prst="rect">
            <a:avLst/>
          </a:prstGeom>
          <a:noFill/>
          <a:ln>
            <a:noFill/>
          </a:ln>
        </p:spPr>
      </p:pic>
      <p:pic>
        <p:nvPicPr>
          <p:cNvPr id="282" name="Google Shape;282;p11"/>
          <p:cNvPicPr preferRelativeResize="0"/>
          <p:nvPr/>
        </p:nvPicPr>
        <p:blipFill rotWithShape="1">
          <a:blip r:embed="rId10">
            <a:alphaModFix/>
          </a:blip>
          <a:srcRect b="0" l="0" r="0" t="0"/>
          <a:stretch/>
        </p:blipFill>
        <p:spPr>
          <a:xfrm>
            <a:off x="8787781" y="1211579"/>
            <a:ext cx="1479372" cy="2103120"/>
          </a:xfrm>
          <a:prstGeom prst="rect">
            <a:avLst/>
          </a:prstGeom>
          <a:noFill/>
          <a:ln>
            <a:noFill/>
          </a:ln>
        </p:spPr>
      </p:pic>
      <p:pic>
        <p:nvPicPr>
          <p:cNvPr id="283" name="Google Shape;283;p11"/>
          <p:cNvPicPr preferRelativeResize="0"/>
          <p:nvPr/>
        </p:nvPicPr>
        <p:blipFill rotWithShape="1">
          <a:blip r:embed="rId11">
            <a:alphaModFix/>
          </a:blip>
          <a:srcRect b="0" l="0" r="0" t="0"/>
          <a:stretch/>
        </p:blipFill>
        <p:spPr>
          <a:xfrm>
            <a:off x="7472548" y="1313697"/>
            <a:ext cx="1138052" cy="2103120"/>
          </a:xfrm>
          <a:prstGeom prst="rect">
            <a:avLst/>
          </a:prstGeom>
          <a:noFill/>
          <a:ln>
            <a:noFill/>
          </a:ln>
        </p:spPr>
      </p:pic>
      <p:pic>
        <p:nvPicPr>
          <p:cNvPr id="284" name="Google Shape;284;p11"/>
          <p:cNvPicPr preferRelativeResize="0"/>
          <p:nvPr/>
        </p:nvPicPr>
        <p:blipFill rotWithShape="1">
          <a:blip r:embed="rId12">
            <a:alphaModFix/>
          </a:blip>
          <a:srcRect b="0" l="0" r="0" t="0"/>
          <a:stretch/>
        </p:blipFill>
        <p:spPr>
          <a:xfrm>
            <a:off x="6790022" y="3950294"/>
            <a:ext cx="1566591" cy="2349886"/>
          </a:xfrm>
          <a:prstGeom prst="rect">
            <a:avLst/>
          </a:prstGeom>
          <a:noFill/>
          <a:ln>
            <a:noFill/>
          </a:ln>
        </p:spPr>
      </p:pic>
      <p:pic>
        <p:nvPicPr>
          <p:cNvPr id="285" name="Google Shape;285;p11"/>
          <p:cNvPicPr preferRelativeResize="0"/>
          <p:nvPr/>
        </p:nvPicPr>
        <p:blipFill rotWithShape="1">
          <a:blip r:embed="rId13">
            <a:alphaModFix/>
          </a:blip>
          <a:srcRect b="0" l="0" r="0" t="0"/>
          <a:stretch/>
        </p:blipFill>
        <p:spPr>
          <a:xfrm>
            <a:off x="5105257" y="4714949"/>
            <a:ext cx="1641401" cy="1641401"/>
          </a:xfrm>
          <a:prstGeom prst="rect">
            <a:avLst/>
          </a:prstGeom>
          <a:noFill/>
          <a:ln>
            <a:noFill/>
          </a:ln>
        </p:spPr>
      </p:pic>
      <p:pic>
        <p:nvPicPr>
          <p:cNvPr id="286" name="Google Shape;286;p11"/>
          <p:cNvPicPr preferRelativeResize="0"/>
          <p:nvPr/>
        </p:nvPicPr>
        <p:blipFill rotWithShape="1">
          <a:blip r:embed="rId14">
            <a:alphaModFix/>
          </a:blip>
          <a:srcRect b="0" l="0" r="0" t="0"/>
          <a:stretch/>
        </p:blipFill>
        <p:spPr>
          <a:xfrm>
            <a:off x="6069676" y="1878492"/>
            <a:ext cx="540576" cy="696003"/>
          </a:xfrm>
          <a:prstGeom prst="rect">
            <a:avLst/>
          </a:prstGeom>
          <a:noFill/>
          <a:ln>
            <a:noFill/>
          </a:ln>
        </p:spPr>
      </p:pic>
      <p:pic>
        <p:nvPicPr>
          <p:cNvPr id="287" name="Google Shape;287;p11"/>
          <p:cNvPicPr preferRelativeResize="0"/>
          <p:nvPr/>
        </p:nvPicPr>
        <p:blipFill rotWithShape="1">
          <a:blip r:embed="rId15">
            <a:alphaModFix/>
          </a:blip>
          <a:srcRect b="0" l="0" r="0" t="0"/>
          <a:stretch/>
        </p:blipFill>
        <p:spPr>
          <a:xfrm>
            <a:off x="2856326" y="4714949"/>
            <a:ext cx="2128097" cy="1417844"/>
          </a:xfrm>
          <a:prstGeom prst="rect">
            <a:avLst/>
          </a:prstGeom>
          <a:noFill/>
          <a:ln>
            <a:noFill/>
          </a:ln>
        </p:spPr>
      </p:pic>
      <p:pic>
        <p:nvPicPr>
          <p:cNvPr id="288" name="Google Shape;288;p11"/>
          <p:cNvPicPr preferRelativeResize="0"/>
          <p:nvPr/>
        </p:nvPicPr>
        <p:blipFill rotWithShape="1">
          <a:blip r:embed="rId16">
            <a:alphaModFix/>
          </a:blip>
          <a:srcRect b="0" l="0" r="0" t="0"/>
          <a:stretch/>
        </p:blipFill>
        <p:spPr>
          <a:xfrm>
            <a:off x="561464" y="4714949"/>
            <a:ext cx="2174028" cy="14178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sp>
        <p:nvSpPr>
          <p:cNvPr id="293" name="Google Shape;293;g2a43ceff744_0_0"/>
          <p:cNvSpPr txBox="1"/>
          <p:nvPr>
            <p:ph type="ctrTitle"/>
          </p:nvPr>
        </p:nvSpPr>
        <p:spPr>
          <a:xfrm>
            <a:off x="872507" y="2526829"/>
            <a:ext cx="5044200" cy="49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3F3D"/>
              </a:buClr>
              <a:buSzPts val="3200"/>
              <a:buFont typeface="Nunito"/>
              <a:buNone/>
            </a:pPr>
            <a:r>
              <a:rPr b="1" lang="pt-PT" sz="3200">
                <a:solidFill>
                  <a:srgbClr val="2F3F3D"/>
                </a:solidFill>
                <a:latin typeface="Nunito"/>
                <a:ea typeface="Nunito"/>
                <a:cs typeface="Nunito"/>
                <a:sym typeface="Nunito"/>
              </a:rPr>
              <a:t>Quem somos</a:t>
            </a:r>
            <a:endParaRPr>
              <a:latin typeface="Nunito"/>
              <a:ea typeface="Nunito"/>
              <a:cs typeface="Nunito"/>
              <a:sym typeface="Nunito"/>
            </a:endParaRPr>
          </a:p>
        </p:txBody>
      </p:sp>
      <p:pic>
        <p:nvPicPr>
          <p:cNvPr descr="Uma imagem com Gráficos, logótipo, design gráfico, Tipo de letra&#10;&#10;Descrição gerada automaticamente" id="294" name="Google Shape;294;g2a43ceff744_0_0"/>
          <p:cNvPicPr preferRelativeResize="0"/>
          <p:nvPr/>
        </p:nvPicPr>
        <p:blipFill rotWithShape="1">
          <a:blip r:embed="rId4">
            <a:alphaModFix/>
          </a:blip>
          <a:srcRect b="0" l="0" r="0" t="0"/>
          <a:stretch/>
        </p:blipFill>
        <p:spPr>
          <a:xfrm>
            <a:off x="1008585" y="1024342"/>
            <a:ext cx="1099662" cy="1252713"/>
          </a:xfrm>
          <a:prstGeom prst="rect">
            <a:avLst/>
          </a:prstGeom>
          <a:noFill/>
          <a:ln>
            <a:noFill/>
          </a:ln>
        </p:spPr>
      </p:pic>
      <p:pic>
        <p:nvPicPr>
          <p:cNvPr id="295" name="Google Shape;295;g2a43ceff744_0_0"/>
          <p:cNvPicPr preferRelativeResize="0"/>
          <p:nvPr/>
        </p:nvPicPr>
        <p:blipFill rotWithShape="1">
          <a:blip r:embed="rId5">
            <a:alphaModFix/>
          </a:blip>
          <a:srcRect b="0" l="0" r="0" t="0"/>
          <a:stretch/>
        </p:blipFill>
        <p:spPr>
          <a:xfrm>
            <a:off x="4242961" y="3954900"/>
            <a:ext cx="1673738" cy="1788425"/>
          </a:xfrm>
          <a:prstGeom prst="rect">
            <a:avLst/>
          </a:prstGeom>
          <a:noFill/>
          <a:ln>
            <a:noFill/>
          </a:ln>
        </p:spPr>
      </p:pic>
      <p:pic>
        <p:nvPicPr>
          <p:cNvPr id="296" name="Google Shape;296;g2a43ceff744_0_0"/>
          <p:cNvPicPr preferRelativeResize="0"/>
          <p:nvPr/>
        </p:nvPicPr>
        <p:blipFill rotWithShape="1">
          <a:blip r:embed="rId6">
            <a:alphaModFix/>
          </a:blip>
          <a:srcRect b="0" l="0" r="0" t="0"/>
          <a:stretch/>
        </p:blipFill>
        <p:spPr>
          <a:xfrm>
            <a:off x="4333700" y="1179592"/>
            <a:ext cx="1492253" cy="1600288"/>
          </a:xfrm>
          <a:prstGeom prst="rect">
            <a:avLst/>
          </a:prstGeom>
          <a:noFill/>
          <a:ln>
            <a:noFill/>
          </a:ln>
        </p:spPr>
      </p:pic>
      <p:sp>
        <p:nvSpPr>
          <p:cNvPr id="297" name="Google Shape;297;g2a43ceff744_0_0"/>
          <p:cNvSpPr txBox="1"/>
          <p:nvPr/>
        </p:nvSpPr>
        <p:spPr>
          <a:xfrm>
            <a:off x="6931891" y="1064620"/>
            <a:ext cx="3342600" cy="19584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2400">
                <a:solidFill>
                  <a:srgbClr val="2F3F3D"/>
                </a:solidFill>
                <a:latin typeface="Nunito"/>
                <a:ea typeface="Nunito"/>
                <a:cs typeface="Nunito"/>
                <a:sym typeface="Nunito"/>
              </a:rPr>
              <a:t>José Pais </a:t>
            </a:r>
            <a:endParaRPr b="1" sz="2400">
              <a:solidFill>
                <a:srgbClr val="2F3F3D"/>
              </a:solidFill>
              <a:latin typeface="Nunito"/>
              <a:ea typeface="Nunito"/>
              <a:cs typeface="Nunito"/>
              <a:sym typeface="Nunito"/>
            </a:endParaRPr>
          </a:p>
          <a:p>
            <a:pPr indent="0" lvl="0" marL="0" marR="0" rtl="0" algn="l">
              <a:lnSpc>
                <a:spcPct val="90000"/>
              </a:lnSpc>
              <a:spcBef>
                <a:spcPts val="0"/>
              </a:spcBef>
              <a:spcAft>
                <a:spcPts val="0"/>
              </a:spcAft>
              <a:buClr>
                <a:srgbClr val="2F3F3D"/>
              </a:buClr>
              <a:buSzPts val="1400"/>
              <a:buFont typeface="Nunito"/>
              <a:buNone/>
            </a:pPr>
            <a:r>
              <a:rPr b="1" lang="pt-PT">
                <a:solidFill>
                  <a:srgbClr val="2F3F3D"/>
                </a:solidFill>
                <a:latin typeface="Nunito"/>
                <a:ea typeface="Nunito"/>
                <a:cs typeface="Nunito"/>
                <a:sym typeface="Nunito"/>
              </a:rPr>
              <a:t>Fundador e CEO</a:t>
            </a:r>
            <a:endParaRPr b="1">
              <a:solidFill>
                <a:srgbClr val="2F3F3D"/>
              </a:solidFill>
              <a:latin typeface="Nunito"/>
              <a:ea typeface="Nunito"/>
              <a:cs typeface="Nunito"/>
              <a:sym typeface="Nunito"/>
            </a:endParaRPr>
          </a:p>
          <a:p>
            <a:pPr indent="0" lvl="0" marL="0" marR="0" rtl="0" algn="l">
              <a:lnSpc>
                <a:spcPct val="90000"/>
              </a:lnSpc>
              <a:spcBef>
                <a:spcPts val="0"/>
              </a:spcBef>
              <a:spcAft>
                <a:spcPts val="0"/>
              </a:spcAft>
              <a:buClr>
                <a:srgbClr val="2F3F3D"/>
              </a:buClr>
              <a:buSzPts val="1400"/>
              <a:buFont typeface="Nunito"/>
              <a:buNone/>
            </a:pPr>
            <a:r>
              <a:t/>
            </a:r>
            <a:endParaRPr b="1">
              <a:solidFill>
                <a:srgbClr val="2F3F3D"/>
              </a:solidFill>
              <a:latin typeface="Nunito"/>
              <a:ea typeface="Nunito"/>
              <a:cs typeface="Nunito"/>
              <a:sym typeface="Nunito"/>
            </a:endParaRPr>
          </a:p>
          <a:p>
            <a:pPr indent="0" lvl="0" marL="0" rtl="0" algn="l">
              <a:lnSpc>
                <a:spcPct val="140000"/>
              </a:lnSpc>
              <a:spcBef>
                <a:spcPts val="0"/>
              </a:spcBef>
              <a:spcAft>
                <a:spcPts val="0"/>
              </a:spcAft>
              <a:buClr>
                <a:srgbClr val="56554D"/>
              </a:buClr>
              <a:buSzPts val="1200"/>
              <a:buFont typeface="Nunito"/>
              <a:buNone/>
            </a:pPr>
            <a:r>
              <a:rPr lang="pt-PT" sz="1200">
                <a:solidFill>
                  <a:srgbClr val="56554D"/>
                </a:solidFill>
                <a:latin typeface="Nunito"/>
                <a:ea typeface="Nunito"/>
                <a:cs typeface="Nunito"/>
                <a:sym typeface="Nunito"/>
              </a:rPr>
              <a:t>Focado em criar em Portugal a solução centralizada da saúde que há muito tempo faltava.</a:t>
            </a:r>
            <a:endParaRPr b="1">
              <a:solidFill>
                <a:srgbClr val="2F3F3D"/>
              </a:solidFill>
              <a:latin typeface="Nunito"/>
              <a:ea typeface="Nunito"/>
              <a:cs typeface="Nunito"/>
              <a:sym typeface="Nunito"/>
            </a:endParaRPr>
          </a:p>
        </p:txBody>
      </p:sp>
      <p:sp>
        <p:nvSpPr>
          <p:cNvPr id="298" name="Google Shape;298;g2a43ceff744_0_0"/>
          <p:cNvSpPr txBox="1"/>
          <p:nvPr/>
        </p:nvSpPr>
        <p:spPr>
          <a:xfrm>
            <a:off x="6931891" y="3671720"/>
            <a:ext cx="3342600" cy="19584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400"/>
              <a:buFont typeface="Nunito"/>
              <a:buNone/>
            </a:pPr>
            <a:r>
              <a:rPr b="1" lang="pt-PT" sz="2400">
                <a:solidFill>
                  <a:srgbClr val="2F3F3D"/>
                </a:solidFill>
                <a:latin typeface="Nunito"/>
                <a:ea typeface="Nunito"/>
                <a:cs typeface="Nunito"/>
                <a:sym typeface="Nunito"/>
              </a:rPr>
              <a:t>Guilherme Fernandes</a:t>
            </a:r>
            <a:endParaRPr b="1" sz="2400">
              <a:solidFill>
                <a:srgbClr val="2F3F3D"/>
              </a:solidFill>
              <a:latin typeface="Nunito"/>
              <a:ea typeface="Nunito"/>
              <a:cs typeface="Nunito"/>
              <a:sym typeface="Nunito"/>
            </a:endParaRPr>
          </a:p>
          <a:p>
            <a:pPr indent="0" lvl="0" marL="0" marR="0" rtl="0" algn="l">
              <a:lnSpc>
                <a:spcPct val="90000"/>
              </a:lnSpc>
              <a:spcBef>
                <a:spcPts val="0"/>
              </a:spcBef>
              <a:spcAft>
                <a:spcPts val="0"/>
              </a:spcAft>
              <a:buClr>
                <a:srgbClr val="2F3F3D"/>
              </a:buClr>
              <a:buSzPts val="1400"/>
              <a:buFont typeface="Nunito"/>
              <a:buNone/>
            </a:pPr>
            <a:r>
              <a:rPr b="1" lang="pt-PT">
                <a:solidFill>
                  <a:srgbClr val="2F3F3D"/>
                </a:solidFill>
                <a:latin typeface="Nunito"/>
                <a:ea typeface="Nunito"/>
                <a:cs typeface="Nunito"/>
                <a:sym typeface="Nunito"/>
              </a:rPr>
              <a:t>Fundador e CEO</a:t>
            </a:r>
            <a:endParaRPr b="1">
              <a:solidFill>
                <a:srgbClr val="2F3F3D"/>
              </a:solidFill>
              <a:latin typeface="Nunito"/>
              <a:ea typeface="Nunito"/>
              <a:cs typeface="Nunito"/>
              <a:sym typeface="Nunito"/>
            </a:endParaRPr>
          </a:p>
          <a:p>
            <a:pPr indent="0" lvl="0" marL="0" marR="0" rtl="0" algn="l">
              <a:lnSpc>
                <a:spcPct val="90000"/>
              </a:lnSpc>
              <a:spcBef>
                <a:spcPts val="0"/>
              </a:spcBef>
              <a:spcAft>
                <a:spcPts val="0"/>
              </a:spcAft>
              <a:buClr>
                <a:srgbClr val="2F3F3D"/>
              </a:buClr>
              <a:buSzPts val="1400"/>
              <a:buFont typeface="Nunito"/>
              <a:buNone/>
            </a:pPr>
            <a:r>
              <a:t/>
            </a:r>
            <a:endParaRPr b="1">
              <a:solidFill>
                <a:srgbClr val="2F3F3D"/>
              </a:solidFill>
              <a:latin typeface="Nunito"/>
              <a:ea typeface="Nunito"/>
              <a:cs typeface="Nunito"/>
              <a:sym typeface="Nunito"/>
            </a:endParaRPr>
          </a:p>
          <a:p>
            <a:pPr indent="0" lvl="0" marL="0" rtl="0" algn="l">
              <a:lnSpc>
                <a:spcPct val="140000"/>
              </a:lnSpc>
              <a:spcBef>
                <a:spcPts val="0"/>
              </a:spcBef>
              <a:spcAft>
                <a:spcPts val="0"/>
              </a:spcAft>
              <a:buClr>
                <a:srgbClr val="56554D"/>
              </a:buClr>
              <a:buSzPts val="1200"/>
              <a:buFont typeface="Nunito"/>
              <a:buNone/>
            </a:pPr>
            <a:r>
              <a:rPr lang="pt-PT" sz="1200">
                <a:solidFill>
                  <a:srgbClr val="56554D"/>
                </a:solidFill>
                <a:latin typeface="Nunito"/>
                <a:ea typeface="Nunito"/>
                <a:cs typeface="Nunito"/>
                <a:sym typeface="Nunito"/>
              </a:rPr>
              <a:t>Dedicado a</a:t>
            </a:r>
            <a:r>
              <a:rPr lang="pt-PT" sz="1200">
                <a:solidFill>
                  <a:srgbClr val="56554D"/>
                </a:solidFill>
                <a:latin typeface="Nunito"/>
                <a:ea typeface="Nunito"/>
                <a:cs typeface="Nunito"/>
                <a:sym typeface="Nunito"/>
              </a:rPr>
              <a:t>o desenvolvimento e estruturação da Umedicu como uma marca de destaque em soluções de saúde em Portugal.</a:t>
            </a:r>
            <a:endParaRPr b="1">
              <a:solidFill>
                <a:srgbClr val="2F3F3D"/>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2" name="Shape 302"/>
        <p:cNvGrpSpPr/>
        <p:nvPr/>
      </p:nvGrpSpPr>
      <p:grpSpPr>
        <a:xfrm>
          <a:off x="0" y="0"/>
          <a:ext cx="0" cy="0"/>
          <a:chOff x="0" y="0"/>
          <a:chExt cx="0" cy="0"/>
        </a:xfrm>
      </p:grpSpPr>
      <p:sp>
        <p:nvSpPr>
          <p:cNvPr id="303" name="Google Shape;303;p12"/>
          <p:cNvSpPr txBox="1"/>
          <p:nvPr/>
        </p:nvSpPr>
        <p:spPr>
          <a:xfrm>
            <a:off x="735112" y="6235514"/>
            <a:ext cx="1514102" cy="38057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E7370"/>
              </a:buClr>
              <a:buSzPts val="1100"/>
              <a:buFont typeface="Nunito"/>
              <a:buNone/>
            </a:pPr>
            <a:r>
              <a:rPr b="0" i="0" lang="pt-PT" sz="1100" u="none" cap="none" strike="noStrike">
                <a:solidFill>
                  <a:srgbClr val="5E7370"/>
                </a:solidFill>
                <a:latin typeface="Nunito"/>
                <a:ea typeface="Nunito"/>
                <a:cs typeface="Nunito"/>
                <a:sym typeface="Nunito"/>
              </a:rPr>
              <a:t>www.umedicu.com</a:t>
            </a:r>
            <a:endParaRPr b="0" i="0" sz="4800" u="none" cap="none" strike="noStrike">
              <a:solidFill>
                <a:srgbClr val="5E7370"/>
              </a:solidFill>
              <a:latin typeface="Nunito"/>
              <a:ea typeface="Nunito"/>
              <a:cs typeface="Nunito"/>
              <a:sym typeface="Nunito"/>
            </a:endParaRPr>
          </a:p>
        </p:txBody>
      </p:sp>
      <p:sp>
        <p:nvSpPr>
          <p:cNvPr id="304" name="Google Shape;304;p12"/>
          <p:cNvSpPr txBox="1"/>
          <p:nvPr>
            <p:ph type="ctrTitle"/>
          </p:nvPr>
        </p:nvSpPr>
        <p:spPr>
          <a:xfrm>
            <a:off x="594103" y="2815552"/>
            <a:ext cx="4385100" cy="878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Nunito ExtraBold"/>
              <a:buNone/>
            </a:pPr>
            <a:r>
              <a:rPr b="1" lang="pt-PT" sz="4800">
                <a:solidFill>
                  <a:schemeClr val="lt1"/>
                </a:solidFill>
                <a:latin typeface="Nunito ExtraBold"/>
                <a:ea typeface="Nunito ExtraBold"/>
                <a:cs typeface="Nunito ExtraBold"/>
                <a:sym typeface="Nunito ExtraBold"/>
              </a:rPr>
              <a:t>Obrigado</a:t>
            </a:r>
            <a:endParaRPr b="1" sz="4400">
              <a:solidFill>
                <a:schemeClr val="lt1"/>
              </a:solidFill>
              <a:latin typeface="Nunito ExtraBold"/>
              <a:ea typeface="Nunito ExtraBold"/>
              <a:cs typeface="Nunito ExtraBold"/>
              <a:sym typeface="Nunito ExtraBold"/>
            </a:endParaRPr>
          </a:p>
        </p:txBody>
      </p:sp>
      <p:sp>
        <p:nvSpPr>
          <p:cNvPr id="305" name="Google Shape;305;p12"/>
          <p:cNvSpPr txBox="1"/>
          <p:nvPr/>
        </p:nvSpPr>
        <p:spPr>
          <a:xfrm>
            <a:off x="678925" y="2406417"/>
            <a:ext cx="3273300" cy="535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1800"/>
              <a:buFont typeface="Nunito Light"/>
              <a:buNone/>
            </a:pPr>
            <a:r>
              <a:rPr b="0" i="0" lang="pt-PT" sz="1800" u="none" cap="none" strike="noStrike">
                <a:solidFill>
                  <a:schemeClr val="lt1"/>
                </a:solidFill>
                <a:latin typeface="Nunito Light"/>
                <a:ea typeface="Nunito Light"/>
                <a:cs typeface="Nunito Light"/>
                <a:sym typeface="Nunito Light"/>
              </a:rPr>
              <a:t>Equipa Umedicu</a:t>
            </a:r>
            <a:endParaRPr b="0" i="0" sz="1800" u="none" cap="none" strike="noStrike">
              <a:solidFill>
                <a:schemeClr val="lt1"/>
              </a:solidFill>
              <a:latin typeface="Nunito Light"/>
              <a:ea typeface="Nunito Light"/>
              <a:cs typeface="Nunito Light"/>
              <a:sym typeface="Nunito Light"/>
            </a:endParaRPr>
          </a:p>
        </p:txBody>
      </p:sp>
      <p:sp>
        <p:nvSpPr>
          <p:cNvPr id="306" name="Google Shape;306;p12"/>
          <p:cNvSpPr txBox="1"/>
          <p:nvPr/>
        </p:nvSpPr>
        <p:spPr>
          <a:xfrm>
            <a:off x="1074083" y="4722812"/>
            <a:ext cx="1885500" cy="3627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E7370"/>
              </a:buClr>
              <a:buSzPts val="1200"/>
              <a:buFont typeface="Nunito"/>
              <a:buNone/>
            </a:pPr>
            <a:r>
              <a:rPr b="0" i="0" lang="pt-PT" sz="1200" u="none" cap="none" strike="noStrike">
                <a:solidFill>
                  <a:srgbClr val="5E7370"/>
                </a:solidFill>
                <a:latin typeface="Nunito"/>
                <a:ea typeface="Nunito"/>
                <a:cs typeface="Nunito"/>
                <a:sym typeface="Nunito"/>
              </a:rPr>
              <a:t>+351</a:t>
            </a:r>
            <a:r>
              <a:rPr b="1" i="0" lang="pt-PT" sz="1200" u="none" cap="none" strike="noStrike">
                <a:solidFill>
                  <a:srgbClr val="2F3F3D"/>
                </a:solidFill>
                <a:latin typeface="Nunito"/>
                <a:ea typeface="Nunito"/>
                <a:cs typeface="Nunito"/>
                <a:sym typeface="Nunito"/>
              </a:rPr>
              <a:t> 912 912 912</a:t>
            </a:r>
            <a:endParaRPr/>
          </a:p>
        </p:txBody>
      </p:sp>
      <p:sp>
        <p:nvSpPr>
          <p:cNvPr id="307" name="Google Shape;307;p12"/>
          <p:cNvSpPr txBox="1"/>
          <p:nvPr/>
        </p:nvSpPr>
        <p:spPr>
          <a:xfrm>
            <a:off x="1065023" y="5169700"/>
            <a:ext cx="1894800" cy="409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2F3F3D"/>
              </a:buClr>
              <a:buSzPts val="1200"/>
              <a:buFont typeface="Nunito"/>
              <a:buNone/>
            </a:pPr>
            <a:r>
              <a:rPr b="1" i="0" lang="pt-PT" sz="1200" u="none" cap="none" strike="noStrike">
                <a:solidFill>
                  <a:srgbClr val="2F3F3D"/>
                </a:solidFill>
                <a:latin typeface="Nunito"/>
                <a:ea typeface="Nunito"/>
                <a:cs typeface="Nunito"/>
                <a:sym typeface="Nunito"/>
              </a:rPr>
              <a:t>geral@umedicu.com</a:t>
            </a:r>
            <a:endParaRPr b="0" i="0" sz="1200" u="none" cap="none" strike="noStrike">
              <a:solidFill>
                <a:srgbClr val="2F3F3D"/>
              </a:solidFill>
              <a:latin typeface="Nunito"/>
              <a:ea typeface="Nunito"/>
              <a:cs typeface="Nunito"/>
              <a:sym typeface="Nunito"/>
            </a:endParaRPr>
          </a:p>
        </p:txBody>
      </p:sp>
      <p:pic>
        <p:nvPicPr>
          <p:cNvPr id="308" name="Google Shape;308;p12"/>
          <p:cNvPicPr preferRelativeResize="0"/>
          <p:nvPr/>
        </p:nvPicPr>
        <p:blipFill rotWithShape="1">
          <a:blip r:embed="rId4">
            <a:alphaModFix/>
          </a:blip>
          <a:srcRect b="0" l="0" r="0" t="0"/>
          <a:stretch/>
        </p:blipFill>
        <p:spPr>
          <a:xfrm>
            <a:off x="716935" y="4711571"/>
            <a:ext cx="338662" cy="335840"/>
          </a:xfrm>
          <a:prstGeom prst="rect">
            <a:avLst/>
          </a:prstGeom>
          <a:noFill/>
          <a:ln>
            <a:noFill/>
          </a:ln>
        </p:spPr>
      </p:pic>
      <p:pic>
        <p:nvPicPr>
          <p:cNvPr id="309" name="Google Shape;309;p12"/>
          <p:cNvPicPr preferRelativeResize="0"/>
          <p:nvPr/>
        </p:nvPicPr>
        <p:blipFill rotWithShape="1">
          <a:blip r:embed="rId5">
            <a:alphaModFix/>
          </a:blip>
          <a:srcRect b="0" l="0" r="0" t="0"/>
          <a:stretch/>
        </p:blipFill>
        <p:spPr>
          <a:xfrm>
            <a:off x="689906" y="5217174"/>
            <a:ext cx="330455" cy="327636"/>
          </a:xfrm>
          <a:prstGeom prst="rect">
            <a:avLst/>
          </a:prstGeom>
          <a:noFill/>
          <a:ln>
            <a:noFill/>
          </a:ln>
        </p:spPr>
      </p:pic>
      <p:pic>
        <p:nvPicPr>
          <p:cNvPr id="310" name="Google Shape;310;p12"/>
          <p:cNvPicPr preferRelativeResize="0"/>
          <p:nvPr/>
        </p:nvPicPr>
        <p:blipFill rotWithShape="1">
          <a:blip r:embed="rId6">
            <a:alphaModFix/>
          </a:blip>
          <a:srcRect b="0" l="0" r="0" t="0"/>
          <a:stretch/>
        </p:blipFill>
        <p:spPr>
          <a:xfrm>
            <a:off x="10426774" y="3261014"/>
            <a:ext cx="1171123" cy="335972"/>
          </a:xfrm>
          <a:prstGeom prst="rect">
            <a:avLst/>
          </a:prstGeom>
          <a:noFill/>
          <a:ln>
            <a:noFill/>
          </a:ln>
        </p:spPr>
      </p:pic>
      <p:pic>
        <p:nvPicPr>
          <p:cNvPr id="311" name="Google Shape;311;p12"/>
          <p:cNvPicPr preferRelativeResize="0"/>
          <p:nvPr/>
        </p:nvPicPr>
        <p:blipFill rotWithShape="1">
          <a:blip r:embed="rId7">
            <a:alphaModFix/>
          </a:blip>
          <a:srcRect b="0" l="0" r="0" t="0"/>
          <a:stretch/>
        </p:blipFill>
        <p:spPr>
          <a:xfrm>
            <a:off x="10426774" y="2738857"/>
            <a:ext cx="1171122" cy="354018"/>
          </a:xfrm>
          <a:prstGeom prst="rect">
            <a:avLst/>
          </a:prstGeom>
          <a:noFill/>
          <a:ln>
            <a:noFill/>
          </a:ln>
        </p:spPr>
      </p:pic>
      <p:cxnSp>
        <p:nvCxnSpPr>
          <p:cNvPr id="312" name="Google Shape;312;p12"/>
          <p:cNvCxnSpPr>
            <a:stCxn id="303" idx="3"/>
          </p:cNvCxnSpPr>
          <p:nvPr/>
        </p:nvCxnSpPr>
        <p:spPr>
          <a:xfrm>
            <a:off x="2249214" y="6425801"/>
            <a:ext cx="3581700" cy="0"/>
          </a:xfrm>
          <a:prstGeom prst="straightConnector1">
            <a:avLst/>
          </a:prstGeom>
          <a:noFill/>
          <a:ln cap="flat" cmpd="sng" w="9525">
            <a:solidFill>
              <a:srgbClr val="2F3F3D">
                <a:alpha val="29019"/>
              </a:srgbClr>
            </a:solidFill>
            <a:prstDash val="solid"/>
            <a:miter lim="800000"/>
            <a:headEnd len="sm" w="sm" type="none"/>
            <a:tailEnd len="sm" w="sm" type="none"/>
          </a:ln>
        </p:spPr>
      </p:cxnSp>
      <p:sp>
        <p:nvSpPr>
          <p:cNvPr id="313" name="Google Shape;313;p12"/>
          <p:cNvSpPr txBox="1"/>
          <p:nvPr/>
        </p:nvSpPr>
        <p:spPr>
          <a:xfrm>
            <a:off x="10338808" y="2240530"/>
            <a:ext cx="1514100" cy="3807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1100"/>
              <a:buFont typeface="Nunito Light"/>
              <a:buNone/>
            </a:pPr>
            <a:r>
              <a:rPr b="0" i="0" lang="pt-PT" sz="1100" u="none" cap="none" strike="noStrike">
                <a:solidFill>
                  <a:schemeClr val="lt1"/>
                </a:solidFill>
                <a:latin typeface="Nunito Light"/>
                <a:ea typeface="Nunito Light"/>
                <a:cs typeface="Nunito Light"/>
                <a:sym typeface="Nunito Light"/>
              </a:rPr>
              <a:t>Descarregue a App:</a:t>
            </a:r>
            <a:endParaRPr b="0" i="0" sz="4800" u="none" cap="none" strike="noStrike">
              <a:solidFill>
                <a:schemeClr val="lt1"/>
              </a:solidFill>
              <a:latin typeface="Nunito Light"/>
              <a:ea typeface="Nunito Light"/>
              <a:cs typeface="Nunito Light"/>
              <a:sym typeface="Nunito Light"/>
            </a:endParaRPr>
          </a:p>
        </p:txBody>
      </p:sp>
      <p:pic>
        <p:nvPicPr>
          <p:cNvPr id="314" name="Google Shape;314;p12"/>
          <p:cNvPicPr preferRelativeResize="0"/>
          <p:nvPr/>
        </p:nvPicPr>
        <p:blipFill rotWithShape="1">
          <a:blip r:embed="rId8">
            <a:alphaModFix/>
          </a:blip>
          <a:srcRect b="0" l="0" r="0" t="0"/>
          <a:stretch/>
        </p:blipFill>
        <p:spPr>
          <a:xfrm>
            <a:off x="3550057" y="4511892"/>
            <a:ext cx="1376220" cy="123578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2024-09-02T22:08:42Z</dcterms:created>
</cp:coreProperties>
</file>